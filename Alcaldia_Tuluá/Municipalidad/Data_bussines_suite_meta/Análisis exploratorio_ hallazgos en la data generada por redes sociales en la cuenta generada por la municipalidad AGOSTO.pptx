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gUeDnqOMtem7+DeMhIM1f+6Zkj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customschemas.google.com/relationships/presentationmetadata" Target="meta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2e2b9737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d2e2b9737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2e2b9737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d2e2b9737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2e2b9737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d2e2b9737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2e2b9737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2d2e2b9737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2e2b9737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d2e2b9737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2e2b9737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2d2e2b9737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10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1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9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238350" y="1869250"/>
            <a:ext cx="8860200" cy="24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480"/>
              <a:t>Análisis exploratorio segmentado: hallazgos en la data generada por la red social facebook de la </a:t>
            </a:r>
            <a:r>
              <a:rPr lang="es" sz="2480">
                <a:solidFill>
                  <a:schemeClr val="accent3"/>
                </a:solidFill>
              </a:rPr>
              <a:t>Municipalidad,</a:t>
            </a:r>
            <a:r>
              <a:rPr lang="es" sz="2480"/>
              <a:t> correspondiente al mes de Agosto de 2024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63208" y="4250175"/>
            <a:ext cx="21573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"/>
              <a:buFont typeface="Arial"/>
              <a:buNone/>
            </a:pPr>
            <a:r>
              <a:rPr b="0" i="0" lang="es" sz="116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-Geronimo Saldaña Espinal. Data Science</a:t>
            </a:r>
            <a:endParaRPr b="0" i="0" sz="116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"/>
              <a:buFont typeface="Arial"/>
              <a:buNone/>
            </a:pPr>
            <a:r>
              <a:rPr b="0" i="0" lang="es" sz="116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-1</a:t>
            </a:r>
            <a:r>
              <a:rPr lang="es" sz="116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i="0" lang="es" sz="116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/0</a:t>
            </a:r>
            <a:r>
              <a:rPr lang="es" sz="116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r>
              <a:rPr b="0" i="0" lang="es" sz="116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/2024</a:t>
            </a:r>
            <a:endParaRPr b="0" i="0" sz="116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2881" y="-59325"/>
            <a:ext cx="2041225" cy="20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>
            <p:ph type="title"/>
          </p:nvPr>
        </p:nvSpPr>
        <p:spPr>
          <a:xfrm>
            <a:off x="3538525" y="0"/>
            <a:ext cx="59655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Matriz de correlación general de Facebook 2024-08-01(fecha inicial) al 2024-08-31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0" y="2494600"/>
            <a:ext cx="2082900" cy="2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"/>
              <a:t>si algo se debe resaltar en esta matriz de </a:t>
            </a:r>
            <a:r>
              <a:rPr lang="es"/>
              <a:t>correlación</a:t>
            </a:r>
            <a:r>
              <a:rPr lang="es"/>
              <a:t> es el como los comentarios demuestran ser </a:t>
            </a:r>
            <a:r>
              <a:rPr b="1" lang="es">
                <a:solidFill>
                  <a:schemeClr val="dk2"/>
                </a:solidFill>
              </a:rPr>
              <a:t>la </a:t>
            </a:r>
            <a:r>
              <a:rPr b="1" lang="es">
                <a:solidFill>
                  <a:schemeClr val="dk2"/>
                </a:solidFill>
              </a:rPr>
              <a:t>métrica</a:t>
            </a:r>
            <a:r>
              <a:rPr b="1" lang="es">
                <a:solidFill>
                  <a:schemeClr val="dk2"/>
                </a:solidFill>
              </a:rPr>
              <a:t> </a:t>
            </a:r>
            <a:r>
              <a:rPr b="1" lang="es">
                <a:solidFill>
                  <a:schemeClr val="dk2"/>
                </a:solidFill>
              </a:rPr>
              <a:t>más</a:t>
            </a:r>
            <a:r>
              <a:rPr b="1" lang="es">
                <a:solidFill>
                  <a:schemeClr val="dk2"/>
                </a:solidFill>
              </a:rPr>
              <a:t> </a:t>
            </a:r>
            <a:r>
              <a:rPr b="1" lang="es">
                <a:solidFill>
                  <a:schemeClr val="dk2"/>
                </a:solidFill>
              </a:rPr>
              <a:t>orgánica</a:t>
            </a:r>
            <a:r>
              <a:rPr b="1" lang="es">
                <a:solidFill>
                  <a:schemeClr val="dk2"/>
                </a:solidFill>
              </a:rPr>
              <a:t> entre las </a:t>
            </a:r>
            <a:r>
              <a:rPr b="1" lang="es">
                <a:solidFill>
                  <a:schemeClr val="dk2"/>
                </a:solidFill>
              </a:rPr>
              <a:t>demás</a:t>
            </a:r>
            <a:r>
              <a:rPr lang="es"/>
              <a:t>, lo cual nos da </a:t>
            </a:r>
            <a:r>
              <a:rPr lang="es"/>
              <a:t>un indicativo sobre como esta</a:t>
            </a:r>
            <a:r>
              <a:rPr lang="es"/>
              <a:t> es la </a:t>
            </a:r>
            <a:r>
              <a:rPr lang="es"/>
              <a:t>métrica</a:t>
            </a:r>
            <a:r>
              <a:rPr lang="es"/>
              <a:t> </a:t>
            </a:r>
            <a:r>
              <a:rPr lang="es"/>
              <a:t>más</a:t>
            </a:r>
            <a:r>
              <a:rPr lang="es"/>
              <a:t> indicada para </a:t>
            </a:r>
            <a:r>
              <a:rPr b="1" lang="es">
                <a:solidFill>
                  <a:schemeClr val="dk2"/>
                </a:solidFill>
              </a:rPr>
              <a:t>determinar la </a:t>
            </a:r>
            <a:r>
              <a:rPr b="1" lang="es">
                <a:solidFill>
                  <a:schemeClr val="dk2"/>
                </a:solidFill>
              </a:rPr>
              <a:t>viralización</a:t>
            </a:r>
            <a:r>
              <a:rPr b="1" lang="es">
                <a:solidFill>
                  <a:schemeClr val="dk2"/>
                </a:solidFill>
              </a:rPr>
              <a:t> o acogida de un contenido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14200" y="192525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</a:t>
            </a:r>
            <a:r>
              <a:rPr lang="es" sz="900"/>
              <a:t>DE PUBLICACIONES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0350" y="1170150"/>
            <a:ext cx="6649425" cy="397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2d2e2b9737d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2d2e2b9737d_0_2"/>
          <p:cNvSpPr txBox="1"/>
          <p:nvPr>
            <p:ph type="title"/>
          </p:nvPr>
        </p:nvSpPr>
        <p:spPr>
          <a:xfrm>
            <a:off x="3512800" y="334325"/>
            <a:ext cx="59655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Matriz de correlación general de Instagram 2024-08-01(fecha inicial) al 2024-08-31</a:t>
            </a:r>
            <a:endParaRPr/>
          </a:p>
        </p:txBody>
      </p:sp>
      <p:sp>
        <p:nvSpPr>
          <p:cNvPr id="104" name="Google Shape;104;g2d2e2b9737d_0_2"/>
          <p:cNvSpPr txBox="1"/>
          <p:nvPr>
            <p:ph idx="1" type="body"/>
          </p:nvPr>
        </p:nvSpPr>
        <p:spPr>
          <a:xfrm>
            <a:off x="0" y="2378875"/>
            <a:ext cx="2082900" cy="27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es"/>
              <a:t>Esta matriz indica un crecimiento general en todas las </a:t>
            </a:r>
            <a:r>
              <a:rPr lang="es"/>
              <a:t>métricas</a:t>
            </a:r>
            <a:r>
              <a:rPr lang="es"/>
              <a:t> brindadas por la cuenta de instagram de la Alcaldia de Tulua, cabe resaltar como </a:t>
            </a:r>
            <a:r>
              <a:rPr b="1" lang="es">
                <a:solidFill>
                  <a:schemeClr val="dk2"/>
                </a:solidFill>
              </a:rPr>
              <a:t>los </a:t>
            </a:r>
            <a:r>
              <a:rPr b="1" lang="es">
                <a:solidFill>
                  <a:schemeClr val="dk2"/>
                </a:solidFill>
              </a:rPr>
              <a:t>seguimientos</a:t>
            </a:r>
            <a:r>
              <a:rPr b="1" lang="es"/>
              <a:t> </a:t>
            </a:r>
            <a:r>
              <a:rPr lang="es"/>
              <a:t>son una </a:t>
            </a:r>
            <a:r>
              <a:rPr lang="es"/>
              <a:t>métrica</a:t>
            </a:r>
            <a:r>
              <a:rPr lang="es"/>
              <a:t> muy </a:t>
            </a:r>
            <a:r>
              <a:rPr b="1" lang="es">
                <a:solidFill>
                  <a:schemeClr val="dk2"/>
                </a:solidFill>
              </a:rPr>
              <a:t>apática</a:t>
            </a:r>
            <a:r>
              <a:rPr b="1" lang="es">
                <a:solidFill>
                  <a:schemeClr val="dk2"/>
                </a:solidFill>
              </a:rPr>
              <a:t> al crecimiento o decrecimiento</a:t>
            </a:r>
            <a:r>
              <a:rPr lang="es"/>
              <a:t> de las </a:t>
            </a:r>
            <a:r>
              <a:rPr lang="es"/>
              <a:t>demás, solo siendo influenciada por </a:t>
            </a:r>
            <a:r>
              <a:rPr b="1" lang="es">
                <a:solidFill>
                  <a:schemeClr val="dk2"/>
                </a:solidFill>
              </a:rPr>
              <a:t>las veces que se comparte el contenido</a:t>
            </a:r>
            <a:r>
              <a:rPr b="1" lang="es"/>
              <a:t> </a:t>
            </a:r>
            <a:r>
              <a:rPr lang="es"/>
              <a:t>y </a:t>
            </a:r>
            <a:r>
              <a:rPr b="1" lang="es">
                <a:solidFill>
                  <a:schemeClr val="dk2"/>
                </a:solidFill>
              </a:rPr>
              <a:t>la duración en segundos</a:t>
            </a:r>
            <a:r>
              <a:rPr lang="es"/>
              <a:t> 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05" name="Google Shape;105;g2d2e2b9737d_0_2"/>
          <p:cNvSpPr txBox="1"/>
          <p:nvPr/>
        </p:nvSpPr>
        <p:spPr>
          <a:xfrm>
            <a:off x="514200" y="192525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</a:t>
            </a:r>
            <a:r>
              <a:rPr lang="es" sz="900"/>
              <a:t>DE PUBLICACIONES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g2d2e2b9737d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6000" y="1695875"/>
            <a:ext cx="6773774" cy="34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>
            <p:ph type="title"/>
          </p:nvPr>
        </p:nvSpPr>
        <p:spPr>
          <a:xfrm>
            <a:off x="3396000" y="0"/>
            <a:ext cx="5834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40"/>
              <a:t>Dias de publicacion con mayor cantidad de comentarios en instagram del 2024-08-01(fecha inicial) al 2024-08-31</a:t>
            </a:r>
            <a:endParaRPr sz="2140"/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47350" y="2935775"/>
            <a:ext cx="3670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"/>
              <a:t>Los días </a:t>
            </a:r>
            <a:r>
              <a:rPr b="1" lang="es">
                <a:solidFill>
                  <a:schemeClr val="dk2"/>
                </a:solidFill>
              </a:rPr>
              <a:t>08/30/2024</a:t>
            </a:r>
            <a:r>
              <a:rPr lang="es"/>
              <a:t>,</a:t>
            </a:r>
            <a:r>
              <a:rPr lang="es"/>
              <a:t> </a:t>
            </a:r>
            <a:r>
              <a:rPr b="1" lang="es">
                <a:solidFill>
                  <a:schemeClr val="dk2"/>
                </a:solidFill>
              </a:rPr>
              <a:t>08/28/2024</a:t>
            </a:r>
            <a:r>
              <a:rPr lang="es"/>
              <a:t>,</a:t>
            </a:r>
            <a:r>
              <a:rPr lang="es"/>
              <a:t> </a:t>
            </a:r>
            <a:r>
              <a:rPr b="1" lang="es">
                <a:solidFill>
                  <a:schemeClr val="dk2"/>
                </a:solidFill>
              </a:rPr>
              <a:t>08/23/2024</a:t>
            </a:r>
            <a:r>
              <a:rPr lang="es"/>
              <a:t>, </a:t>
            </a:r>
            <a:r>
              <a:rPr b="1" lang="es">
                <a:solidFill>
                  <a:schemeClr val="dk2"/>
                </a:solidFill>
              </a:rPr>
              <a:t>08/16/2024 </a:t>
            </a:r>
            <a:r>
              <a:rPr lang="es"/>
              <a:t>fueron donde se </a:t>
            </a:r>
            <a:r>
              <a:rPr lang="es"/>
              <a:t>presentó</a:t>
            </a:r>
            <a:r>
              <a:rPr lang="es"/>
              <a:t> una mayor cantidad de comentarios en publicaciones de instagram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514200" y="192525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</a:t>
            </a:r>
            <a:r>
              <a:rPr lang="es" sz="900"/>
              <a:t>PUBLICACIONES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8475" y="1127750"/>
            <a:ext cx="4441150" cy="40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2d2e2b9737d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2d2e2b9737d_0_12"/>
          <p:cNvSpPr txBox="1"/>
          <p:nvPr>
            <p:ph type="title"/>
          </p:nvPr>
        </p:nvSpPr>
        <p:spPr>
          <a:xfrm>
            <a:off x="3396000" y="0"/>
            <a:ext cx="5834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40"/>
              <a:t>Dias de publicacion con mayor cantidad de Reacciones en Facebook del 2024-08-01(fecha inicial) al 2024-08-31</a:t>
            </a:r>
            <a:endParaRPr sz="2140"/>
          </a:p>
        </p:txBody>
      </p:sp>
      <p:sp>
        <p:nvSpPr>
          <p:cNvPr id="122" name="Google Shape;122;g2d2e2b9737d_0_12"/>
          <p:cNvSpPr txBox="1"/>
          <p:nvPr>
            <p:ph idx="1" type="body"/>
          </p:nvPr>
        </p:nvSpPr>
        <p:spPr>
          <a:xfrm>
            <a:off x="47350" y="2935775"/>
            <a:ext cx="3670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"/>
              <a:t>Los días </a:t>
            </a:r>
            <a:r>
              <a:rPr b="1" lang="es">
                <a:solidFill>
                  <a:schemeClr val="dk2"/>
                </a:solidFill>
              </a:rPr>
              <a:t>08/02/2024,</a:t>
            </a:r>
            <a:r>
              <a:rPr lang="es"/>
              <a:t>  </a:t>
            </a:r>
            <a:r>
              <a:rPr b="1" lang="es">
                <a:solidFill>
                  <a:schemeClr val="dk2"/>
                </a:solidFill>
              </a:rPr>
              <a:t>08/16/2024, </a:t>
            </a:r>
            <a:r>
              <a:rPr b="1" lang="es">
                <a:solidFill>
                  <a:schemeClr val="dk2"/>
                </a:solidFill>
              </a:rPr>
              <a:t>08/23/2024,  08/28/2024,  08/30/2024</a:t>
            </a:r>
            <a:r>
              <a:rPr lang="es"/>
              <a:t> fueron donde se presentaron la</a:t>
            </a:r>
            <a:r>
              <a:rPr b="1" lang="es">
                <a:solidFill>
                  <a:schemeClr val="dk2"/>
                </a:solidFill>
              </a:rPr>
              <a:t> mayor cantidad de comentarios</a:t>
            </a:r>
            <a:r>
              <a:rPr lang="es"/>
              <a:t> en publicaciones del </a:t>
            </a:r>
            <a:r>
              <a:rPr b="1" lang="es">
                <a:solidFill>
                  <a:schemeClr val="dk2"/>
                </a:solidFill>
              </a:rPr>
              <a:t>Facebook de la </a:t>
            </a:r>
            <a:r>
              <a:rPr b="1" lang="es">
                <a:solidFill>
                  <a:schemeClr val="dk2"/>
                </a:solidFill>
              </a:rPr>
              <a:t>Alcaldía</a:t>
            </a:r>
            <a:r>
              <a:rPr b="1" lang="es">
                <a:solidFill>
                  <a:schemeClr val="dk2"/>
                </a:solidFill>
              </a:rPr>
              <a:t> de Tuluá 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23" name="Google Shape;123;g2d2e2b9737d_0_12"/>
          <p:cNvSpPr txBox="1"/>
          <p:nvPr/>
        </p:nvSpPr>
        <p:spPr>
          <a:xfrm>
            <a:off x="514200" y="192525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</a:t>
            </a:r>
            <a:r>
              <a:rPr lang="es" sz="900"/>
              <a:t>PUBLICACIONES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2d2e2b9737d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3600" y="1170150"/>
            <a:ext cx="4365675" cy="397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514200" y="192525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REGISTROS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47350" y="2935775"/>
            <a:ext cx="3670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"/>
              <a:t>Se observa una tendencia general y es, </a:t>
            </a:r>
            <a:r>
              <a:rPr b="1" lang="es">
                <a:solidFill>
                  <a:schemeClr val="dk2"/>
                </a:solidFill>
              </a:rPr>
              <a:t>a mayor cantidad de segundos, menor cantidad de reacciones</a:t>
            </a:r>
            <a:r>
              <a:rPr lang="es"/>
              <a:t> a </a:t>
            </a:r>
            <a:r>
              <a:rPr b="1" lang="es">
                <a:solidFill>
                  <a:schemeClr val="dk2"/>
                </a:solidFill>
              </a:rPr>
              <a:t>excepción</a:t>
            </a:r>
            <a:r>
              <a:rPr lang="es"/>
              <a:t> de formatos de larga duración como los </a:t>
            </a:r>
            <a:r>
              <a:rPr b="1" lang="es">
                <a:solidFill>
                  <a:schemeClr val="dk2"/>
                </a:solidFill>
              </a:rPr>
              <a:t>en vivos</a:t>
            </a:r>
            <a:r>
              <a:rPr lang="es"/>
              <a:t>, que igualmente generan una cantidad significativa de reacciones</a:t>
            </a:r>
            <a:endParaRPr/>
          </a:p>
        </p:txBody>
      </p:sp>
      <p:sp>
        <p:nvSpPr>
          <p:cNvPr id="132" name="Google Shape;132;p4"/>
          <p:cNvSpPr txBox="1"/>
          <p:nvPr>
            <p:ph type="title"/>
          </p:nvPr>
        </p:nvSpPr>
        <p:spPr>
          <a:xfrm>
            <a:off x="3614600" y="0"/>
            <a:ext cx="58341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40"/>
              <a:t>Alcance</a:t>
            </a:r>
            <a:r>
              <a:rPr lang="es" sz="2140"/>
              <a:t> en relación a la cantidad de segundos por contenido de Facebook 2024-08-01(fecha inicial) al 2024-08-31</a:t>
            </a:r>
            <a:endParaRPr sz="2140"/>
          </a:p>
        </p:txBody>
      </p:sp>
      <p:pic>
        <p:nvPicPr>
          <p:cNvPr id="133" name="Google Shape;13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4800" y="1080125"/>
            <a:ext cx="4269100" cy="406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2d2e2b9737d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2d2e2b9737d_0_24"/>
          <p:cNvSpPr txBox="1"/>
          <p:nvPr/>
        </p:nvSpPr>
        <p:spPr>
          <a:xfrm>
            <a:off x="514200" y="192525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REGISTROS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d2e2b9737d_0_24"/>
          <p:cNvSpPr txBox="1"/>
          <p:nvPr>
            <p:ph idx="1" type="body"/>
          </p:nvPr>
        </p:nvSpPr>
        <p:spPr>
          <a:xfrm>
            <a:off x="47350" y="2935775"/>
            <a:ext cx="3670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"/>
              <a:t>Se observa una tendencia general y es, </a:t>
            </a:r>
            <a:r>
              <a:rPr b="1" lang="es">
                <a:solidFill>
                  <a:schemeClr val="dk2"/>
                </a:solidFill>
              </a:rPr>
              <a:t>a mayor cantidad de segundos, menor cantidad de comentarios,</a:t>
            </a:r>
            <a:r>
              <a:rPr lang="es">
                <a:solidFill>
                  <a:schemeClr val="dk2"/>
                </a:solidFill>
              </a:rPr>
              <a:t> </a:t>
            </a:r>
            <a:r>
              <a:rPr lang="es"/>
              <a:t>cabe recalcar que </a:t>
            </a:r>
            <a:r>
              <a:rPr b="1" lang="es">
                <a:solidFill>
                  <a:schemeClr val="dk2"/>
                </a:solidFill>
              </a:rPr>
              <a:t>esta tendencia en única de este mes de agosto</a:t>
            </a:r>
            <a:r>
              <a:rPr lang="es"/>
              <a:t>, ya que en los contenidos de larga duración en meses anteriores demostraron tener un gran enganche con los comentarios</a:t>
            </a:r>
            <a:endParaRPr/>
          </a:p>
        </p:txBody>
      </p:sp>
      <p:sp>
        <p:nvSpPr>
          <p:cNvPr id="141" name="Google Shape;141;g2d2e2b9737d_0_24"/>
          <p:cNvSpPr txBox="1"/>
          <p:nvPr>
            <p:ph type="title"/>
          </p:nvPr>
        </p:nvSpPr>
        <p:spPr>
          <a:xfrm>
            <a:off x="3614600" y="0"/>
            <a:ext cx="58341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40"/>
              <a:t>Comentarios</a:t>
            </a:r>
            <a:r>
              <a:rPr lang="es" sz="2140"/>
              <a:t> en relación a la cantidad de segundos por contenido de Instagram 2024-08-01(fecha inicial) al 2024-08-31</a:t>
            </a:r>
            <a:endParaRPr sz="2140"/>
          </a:p>
        </p:txBody>
      </p:sp>
      <p:pic>
        <p:nvPicPr>
          <p:cNvPr id="142" name="Google Shape;142;g2d2e2b9737d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7700" y="1028250"/>
            <a:ext cx="4258575" cy="417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>
            <p:ph type="title"/>
          </p:nvPr>
        </p:nvSpPr>
        <p:spPr>
          <a:xfrm>
            <a:off x="3342000" y="141725"/>
            <a:ext cx="58020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Promedios de reacciones en Facebook en todo el mes de agosto</a:t>
            </a:r>
            <a:endParaRPr/>
          </a:p>
        </p:txBody>
      </p:sp>
      <p:sp>
        <p:nvSpPr>
          <p:cNvPr id="149" name="Google Shape;149;p5"/>
          <p:cNvSpPr txBox="1"/>
          <p:nvPr>
            <p:ph idx="1" type="body"/>
          </p:nvPr>
        </p:nvSpPr>
        <p:spPr>
          <a:xfrm>
            <a:off x="109200" y="2808550"/>
            <a:ext cx="32328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La gran mayoría de publicaciones se encuentran entre </a:t>
            </a:r>
            <a:r>
              <a:rPr b="1" lang="es">
                <a:solidFill>
                  <a:schemeClr val="dk2"/>
                </a:solidFill>
              </a:rPr>
              <a:t>60</a:t>
            </a:r>
            <a:r>
              <a:rPr lang="es"/>
              <a:t> y  </a:t>
            </a:r>
            <a:r>
              <a:rPr b="1" lang="es">
                <a:solidFill>
                  <a:schemeClr val="dk2"/>
                </a:solidFill>
              </a:rPr>
              <a:t>170</a:t>
            </a:r>
            <a:r>
              <a:rPr lang="es"/>
              <a:t> reacciones siendo </a:t>
            </a:r>
            <a:r>
              <a:rPr b="1" lang="es">
                <a:solidFill>
                  <a:schemeClr val="dk2"/>
                </a:solidFill>
              </a:rPr>
              <a:t>200</a:t>
            </a:r>
            <a:r>
              <a:rPr lang="es"/>
              <a:t> reacciones la cifra más alcanzada por varias publicaciones y teniendo 2 publicaciones atipicas la p</a:t>
            </a:r>
            <a:r>
              <a:rPr lang="es"/>
              <a:t>rimera</a:t>
            </a:r>
            <a:r>
              <a:rPr lang="es"/>
              <a:t> con </a:t>
            </a:r>
            <a:r>
              <a:rPr b="1" lang="es">
                <a:solidFill>
                  <a:schemeClr val="dk2"/>
                </a:solidFill>
              </a:rPr>
              <a:t>781 </a:t>
            </a:r>
            <a:r>
              <a:rPr lang="es"/>
              <a:t>Reacciones y la segunda con </a:t>
            </a:r>
            <a:r>
              <a:rPr b="1" lang="es">
                <a:solidFill>
                  <a:schemeClr val="dk2"/>
                </a:solidFill>
              </a:rPr>
              <a:t>518</a:t>
            </a:r>
            <a:r>
              <a:rPr lang="es"/>
              <a:t>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514200" y="192525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REGISTROS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3275" y="1283300"/>
            <a:ext cx="5710725" cy="38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2d2e2b9737d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2d2e2b9737d_0_34"/>
          <p:cNvSpPr txBox="1"/>
          <p:nvPr>
            <p:ph type="title"/>
          </p:nvPr>
        </p:nvSpPr>
        <p:spPr>
          <a:xfrm>
            <a:off x="3342000" y="141725"/>
            <a:ext cx="58020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Promedios de Me gustas en Instagram de todo el mes de agosto</a:t>
            </a:r>
            <a:endParaRPr/>
          </a:p>
        </p:txBody>
      </p:sp>
      <p:sp>
        <p:nvSpPr>
          <p:cNvPr id="158" name="Google Shape;158;g2d2e2b9737d_0_34"/>
          <p:cNvSpPr txBox="1"/>
          <p:nvPr>
            <p:ph idx="1" type="body"/>
          </p:nvPr>
        </p:nvSpPr>
        <p:spPr>
          <a:xfrm>
            <a:off x="109200" y="2808550"/>
            <a:ext cx="32328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La gran mayoría de publicaciones se encuentran entre </a:t>
            </a:r>
            <a:r>
              <a:rPr b="1" lang="es">
                <a:solidFill>
                  <a:schemeClr val="dk2"/>
                </a:solidFill>
              </a:rPr>
              <a:t>80</a:t>
            </a:r>
            <a:r>
              <a:rPr lang="es"/>
              <a:t> y  </a:t>
            </a:r>
            <a:r>
              <a:rPr b="1" lang="es">
                <a:solidFill>
                  <a:schemeClr val="dk2"/>
                </a:solidFill>
              </a:rPr>
              <a:t>130</a:t>
            </a:r>
            <a:r>
              <a:rPr lang="es"/>
              <a:t> Me gustas siendo </a:t>
            </a:r>
            <a:r>
              <a:rPr b="1" lang="es">
                <a:solidFill>
                  <a:schemeClr val="dk2"/>
                </a:solidFill>
              </a:rPr>
              <a:t>150</a:t>
            </a:r>
            <a:r>
              <a:rPr lang="es"/>
              <a:t> </a:t>
            </a:r>
            <a:r>
              <a:rPr lang="es"/>
              <a:t>Me gustas</a:t>
            </a:r>
            <a:r>
              <a:rPr lang="es"/>
              <a:t> la cifra más alcanzada por varias publicaciones y teniendo nuevamente 2 publicaciones atipicas, la primera de ellas con un aprox de </a:t>
            </a:r>
            <a:r>
              <a:rPr b="1" lang="es">
                <a:solidFill>
                  <a:schemeClr val="dk2"/>
                </a:solidFill>
              </a:rPr>
              <a:t>525 </a:t>
            </a:r>
            <a:r>
              <a:rPr lang="es"/>
              <a:t>Me gustas y La Segunda con </a:t>
            </a:r>
            <a:r>
              <a:rPr b="1" lang="es">
                <a:solidFill>
                  <a:schemeClr val="dk2"/>
                </a:solidFill>
              </a:rPr>
              <a:t>285 </a:t>
            </a:r>
            <a:r>
              <a:rPr lang="es"/>
              <a:t>Me gustas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59" name="Google Shape;159;g2d2e2b9737d_0_34"/>
          <p:cNvSpPr txBox="1"/>
          <p:nvPr/>
        </p:nvSpPr>
        <p:spPr>
          <a:xfrm>
            <a:off x="514200" y="192525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REGISTROS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2d2e2b9737d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7776" y="1200985"/>
            <a:ext cx="5802000" cy="3942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>
            <p:ph type="title"/>
          </p:nvPr>
        </p:nvSpPr>
        <p:spPr>
          <a:xfrm>
            <a:off x="3342000" y="141725"/>
            <a:ext cx="58020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Publicaciones más exitosas de instagram</a:t>
            </a:r>
            <a:endParaRPr/>
          </a:p>
        </p:txBody>
      </p:sp>
      <p:sp>
        <p:nvSpPr>
          <p:cNvPr id="167" name="Google Shape;167;p6"/>
          <p:cNvSpPr txBox="1"/>
          <p:nvPr>
            <p:ph idx="1" type="body"/>
          </p:nvPr>
        </p:nvSpPr>
        <p:spPr>
          <a:xfrm>
            <a:off x="2181150" y="1154650"/>
            <a:ext cx="55863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rPr i="1" lang="es" sz="1100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Descripción de la publicación con mayor cantidad de (me gustas) (ID: 18034301249484347 )</a:t>
            </a: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¡Una nueva era para Tuluá! 🙌🏽💙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 el liderazgo del alcalde Gustavo Vélez, estamos escribiendo un nuevo capítulo en la historia de nuestro municipio. Desde la Administración Municipal, hemos iniciado con la ejecución de las obras y proyectos que transformarán la vida de nuestros ciudadanos. ✅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¡Estamos construyendo un futuro mejor, con más oportunidades para todos! #ParaSerFelices 💪🏼💙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rPr i="1" lang="es" sz="1100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Descripción de la segunda publicación con mayor alcance:</a:t>
            </a: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¡Tuluá se transforma!✅ 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Estamos impulsando nuevos planes con la Antigua Terminal con el fin optimizar el tráfico y mejorar la viabilidad de nuestro municipio 🌟 Con cada proyecto, avanzamos hacia un futuro más próspero y dinámico. Juntos, estamos construyendo un Tuluá #ParaSerFelices 💙🙌🏽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Descripción de la publicación (ID: 18017398763582738) con 214 'Me gusta': ¡Buenas noticias para los tulueños: Concejo Municipal aprobó papayazo de descuentos en impuestos!🗣️✅💪🏼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147150" y="2743125"/>
            <a:ext cx="203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REGISTROS EN EL PERÍODO 01 AL 31 DE MAYO: </a:t>
            </a:r>
            <a:r>
              <a:rPr b="1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 txBox="1"/>
          <p:nvPr>
            <p:ph type="title"/>
          </p:nvPr>
        </p:nvSpPr>
        <p:spPr>
          <a:xfrm>
            <a:off x="3342000" y="141725"/>
            <a:ext cx="58020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Publicaciones menos exitosas de instagram </a:t>
            </a:r>
            <a:endParaRPr/>
          </a:p>
        </p:txBody>
      </p:sp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2181150" y="1154650"/>
            <a:ext cx="55863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i="1" lang="es" sz="1100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Descripciones de las tres publicaciones con menor alcance:</a:t>
            </a:r>
            <a:endParaRPr i="1" sz="1100">
              <a:solidFill>
                <a:schemeClr val="lt1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🎉 ¡PAPAYAZO TRIBUTARIO 2024! 💰 ✅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Aprovecha el 90% de descuento en intereses y sanciones de tus impuestos municipales este mes. Desde la Administración Municipal brindamos esta increíble oportunidad para aliviar tu carga tributaria. 🔍 Descubre más sobre cómo puedes aprovechar estos beneficios en este carrusel. ¡No dejes pasar esta oportunidad para ponerte al día y ahorrar! 👇 #ParaSerFelices 💙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Encuentros con el Alcalde!🙌🏽✅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Bienvenidos a este espacio para hablar com nuestra comunidad.💙🙌🏽 #ParaSerFelices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¡ENCUENTROS CON EL ALCALDE!💙 Bienvenidos a este espacio de diálogo con nuestra comunidad #ParaSerFelices 🙌🏽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514200" y="206385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REGISTROS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2d2e2b9737d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2d2e2b9737d_0_45"/>
          <p:cNvSpPr txBox="1"/>
          <p:nvPr>
            <p:ph type="title"/>
          </p:nvPr>
        </p:nvSpPr>
        <p:spPr>
          <a:xfrm>
            <a:off x="3342000" y="141725"/>
            <a:ext cx="58020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Publicaciones más exitosas de Facebook</a:t>
            </a:r>
            <a:endParaRPr/>
          </a:p>
        </p:txBody>
      </p:sp>
      <p:sp>
        <p:nvSpPr>
          <p:cNvPr id="183" name="Google Shape;183;g2d2e2b9737d_0_45"/>
          <p:cNvSpPr txBox="1"/>
          <p:nvPr>
            <p:ph idx="1" type="body"/>
          </p:nvPr>
        </p:nvSpPr>
        <p:spPr>
          <a:xfrm>
            <a:off x="2181150" y="1154650"/>
            <a:ext cx="55863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i="1" lang="es" sz="1100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Identificador de la segunda publicación con mayores reacciones:</a:t>
            </a: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Bienvenidos a este espacio creado para compartir con nuestra comunidad! #ParaSerFelices 💪💙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i="1" lang="es" sz="1100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Descripción de la segunda publicación con mayor alcance:</a:t>
            </a: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Bienvenidos a este espacio de diálogo con nuestro alcalde @[100050197852350:2048:Gustavo Vélez], para interactuar con nuestra comunidad. #ParaSerFelices 💙💪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i="1" lang="es" sz="1100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Descripción de la tercera publicación con mayor alcance: </a:t>
            </a:r>
            <a:r>
              <a:rPr b="1" lang="es" sz="11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¡Encuentros con el alcalde! ✅💙🗣️</a:t>
            </a:r>
            <a:endParaRPr b="1" sz="11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s" sz="11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Bienvenidos a este espacio creado para la comunidad. Hoy hablaremos de diferentes temas e interactuaremos con nuestra comunidad tulueña. ¡Vamos a construir una Tuluá #ParaSerFelices!</a:t>
            </a:r>
            <a:endParaRPr b="1" sz="11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84" name="Google Shape;184;g2d2e2b9737d_0_45"/>
          <p:cNvSpPr txBox="1"/>
          <p:nvPr/>
        </p:nvSpPr>
        <p:spPr>
          <a:xfrm>
            <a:off x="147150" y="274820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REGISTROS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2d2e2b9737d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2d2e2b9737d_0_53"/>
          <p:cNvSpPr txBox="1"/>
          <p:nvPr>
            <p:ph type="title"/>
          </p:nvPr>
        </p:nvSpPr>
        <p:spPr>
          <a:xfrm>
            <a:off x="3342000" y="141725"/>
            <a:ext cx="58020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Publicaciones menos exitosas de Facebook </a:t>
            </a:r>
            <a:endParaRPr/>
          </a:p>
        </p:txBody>
      </p:sp>
      <p:sp>
        <p:nvSpPr>
          <p:cNvPr id="191" name="Google Shape;191;g2d2e2b9737d_0_53"/>
          <p:cNvSpPr txBox="1"/>
          <p:nvPr>
            <p:ph idx="1" type="body"/>
          </p:nvPr>
        </p:nvSpPr>
        <p:spPr>
          <a:xfrm>
            <a:off x="2181150" y="1154650"/>
            <a:ext cx="55863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i="1" lang="es" sz="1100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Descripción de la publicación con menor alcance (ID: 940765254757474 ):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Encuentros con el Alcalde!🙌🏽✅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Bienvenidos a este espacio para hablar com nuestra comunidad.💙🙌🏽 #ParaSerFelices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¡ENCUENTROS CON EL ALCALDE!💙 Bienvenidos a este espacio de diálogo con nuestra comunidad #ParaSerFelices 🙌🏽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Bienvenidos a este espacio para hablar com nuestra comunidad.💙🙌🏽 #ParaSerFelices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92" name="Google Shape;192;g2d2e2b9737d_0_53"/>
          <p:cNvSpPr txBox="1"/>
          <p:nvPr/>
        </p:nvSpPr>
        <p:spPr>
          <a:xfrm>
            <a:off x="514200" y="2063850"/>
            <a:ext cx="203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REGISTROS EN EL PERÍODO 01 AL 31 DE </a:t>
            </a:r>
            <a:r>
              <a:rPr lang="es" sz="900"/>
              <a:t>AGOSTO</a:t>
            </a: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900"/>
              <a:t>23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" y="0"/>
            <a:ext cx="91355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>
            <p:ph type="title"/>
          </p:nvPr>
        </p:nvSpPr>
        <p:spPr>
          <a:xfrm>
            <a:off x="3291813" y="0"/>
            <a:ext cx="58020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 de publicación más compartida y con mayor cantidad de reacciones en facebook</a:t>
            </a:r>
            <a:endParaRPr/>
          </a:p>
        </p:txBody>
      </p:sp>
      <p:sp>
        <p:nvSpPr>
          <p:cNvPr id="199" name="Google Shape;199;p7"/>
          <p:cNvSpPr txBox="1"/>
          <p:nvPr>
            <p:ph idx="1" type="body"/>
          </p:nvPr>
        </p:nvSpPr>
        <p:spPr>
          <a:xfrm>
            <a:off x="47350" y="2136075"/>
            <a:ext cx="3198600" cy="24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"/>
              <a:t>Se observa como la mayoría de publicaciones que alcanzan más compartidos </a:t>
            </a:r>
            <a:r>
              <a:rPr b="1" lang="es">
                <a:solidFill>
                  <a:schemeClr val="dk2"/>
                </a:solidFill>
              </a:rPr>
              <a:t>son formatos de Reels o videos envivo</a:t>
            </a:r>
            <a:r>
              <a:rPr lang="es"/>
              <a:t>, incluso alcanzando las mayores cantidades de reacciones, sin embargo, también influye mucho </a:t>
            </a:r>
            <a:r>
              <a:rPr b="1" lang="es">
                <a:solidFill>
                  <a:schemeClr val="dk2"/>
                </a:solidFill>
              </a:rPr>
              <a:t>el tema a tratar en estos formatos de larga duración.</a:t>
            </a:r>
            <a:r>
              <a:rPr lang="es"/>
              <a:t> </a:t>
            </a:r>
            <a:endParaRPr/>
          </a:p>
        </p:txBody>
      </p:sp>
      <p:pic>
        <p:nvPicPr>
          <p:cNvPr id="200" name="Google Shape;20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300" y="1457313"/>
            <a:ext cx="560070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