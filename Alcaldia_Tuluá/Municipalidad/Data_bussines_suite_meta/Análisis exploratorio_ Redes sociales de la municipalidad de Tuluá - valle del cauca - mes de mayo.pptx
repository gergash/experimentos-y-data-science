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aleway"/>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bold.fntdata"/><Relationship Id="rId12"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Italic.fntdata"/><Relationship Id="rId14" Type="http://schemas.openxmlformats.org/officeDocument/2006/relationships/font" Target="fonts/Raleway-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ff666c79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ff666c79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f666c79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ff666c79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ff666c79d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ff666c79d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f666c79d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ff666c79d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ff666c79d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ff666c79d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15900" y="1322450"/>
            <a:ext cx="88602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 exploratorio: Redes sociales de la municipalidad de </a:t>
            </a:r>
            <a:r>
              <a:rPr lang="es"/>
              <a:t>Tuluá</a:t>
            </a:r>
            <a:r>
              <a:rPr lang="es"/>
              <a:t> - valle del cauca - mes de mayo</a:t>
            </a:r>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675102" y="3396463"/>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listado por hallazgos</a:t>
            </a:r>
            <a:endParaRPr/>
          </a:p>
        </p:txBody>
      </p:sp>
      <p:sp>
        <p:nvSpPr>
          <p:cNvPr id="88" name="Google Shape;88;p13"/>
          <p:cNvSpPr txBox="1"/>
          <p:nvPr/>
        </p:nvSpPr>
        <p:spPr>
          <a:xfrm>
            <a:off x="727950" y="4346975"/>
            <a:ext cx="2496000" cy="5412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s" sz="1160">
                <a:solidFill>
                  <a:srgbClr val="595959"/>
                </a:solidFill>
                <a:latin typeface="Lato"/>
                <a:ea typeface="Lato"/>
                <a:cs typeface="Lato"/>
                <a:sym typeface="Lato"/>
              </a:rPr>
              <a:t>-Geronimo  Saldaña Espinal</a:t>
            </a:r>
            <a:endParaRPr sz="1160">
              <a:solidFill>
                <a:srgbClr val="595959"/>
              </a:solidFill>
              <a:latin typeface="Lato"/>
              <a:ea typeface="Lato"/>
              <a:cs typeface="Lato"/>
              <a:sym typeface="Lato"/>
            </a:endParaRPr>
          </a:p>
          <a:p>
            <a:pPr indent="0" lvl="0" marL="0" rtl="0" algn="l">
              <a:lnSpc>
                <a:spcPct val="80000"/>
              </a:lnSpc>
              <a:spcBef>
                <a:spcPts val="0"/>
              </a:spcBef>
              <a:spcAft>
                <a:spcPts val="0"/>
              </a:spcAft>
              <a:buNone/>
            </a:pPr>
            <a:r>
              <a:rPr lang="es" sz="1160">
                <a:solidFill>
                  <a:srgbClr val="595959"/>
                </a:solidFill>
                <a:latin typeface="Lato"/>
                <a:ea typeface="Lato"/>
                <a:cs typeface="Lato"/>
                <a:sym typeface="Lato"/>
              </a:rPr>
              <a:t>-6/05/2024</a:t>
            </a:r>
            <a:endParaRPr sz="1160">
              <a:solidFill>
                <a:srgbClr val="595959"/>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528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Horarios </a:t>
            </a:r>
            <a:r>
              <a:rPr lang="es"/>
              <a:t>más</a:t>
            </a:r>
            <a:r>
              <a:rPr lang="es"/>
              <a:t> efectivos</a:t>
            </a:r>
            <a:endParaRPr/>
          </a:p>
        </p:txBody>
      </p:sp>
      <p:sp>
        <p:nvSpPr>
          <p:cNvPr id="94" name="Google Shape;94;p14"/>
          <p:cNvSpPr txBox="1"/>
          <p:nvPr>
            <p:ph idx="1" type="body"/>
          </p:nvPr>
        </p:nvSpPr>
        <p:spPr>
          <a:xfrm>
            <a:off x="256900" y="1588150"/>
            <a:ext cx="7688700" cy="313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Los horarios marcados en rojo son donde se genera mayor</a:t>
            </a:r>
            <a:endParaRPr/>
          </a:p>
          <a:p>
            <a:pPr indent="0" lvl="0" marL="0" rtl="0" algn="l">
              <a:spcBef>
                <a:spcPts val="1200"/>
              </a:spcBef>
              <a:spcAft>
                <a:spcPts val="0"/>
              </a:spcAft>
              <a:buNone/>
            </a:pPr>
            <a:r>
              <a:rPr lang="es"/>
              <a:t>alcance en una </a:t>
            </a:r>
            <a:r>
              <a:rPr lang="es"/>
              <a:t>publicación:</a:t>
            </a:r>
            <a:endParaRPr/>
          </a:p>
          <a:p>
            <a:pPr indent="0" lvl="0" marL="0" rtl="0" algn="l">
              <a:spcBef>
                <a:spcPts val="1200"/>
              </a:spcBef>
              <a:spcAft>
                <a:spcPts val="0"/>
              </a:spcAft>
              <a:buNone/>
            </a:pPr>
            <a:r>
              <a:rPr b="1" lang="es">
                <a:solidFill>
                  <a:schemeClr val="dk2"/>
                </a:solidFill>
              </a:rPr>
              <a:t>-</a:t>
            </a:r>
            <a:r>
              <a:rPr b="1" lang="es">
                <a:solidFill>
                  <a:schemeClr val="dk2"/>
                </a:solidFill>
              </a:rPr>
              <a:t> 15:03</a:t>
            </a:r>
            <a:endParaRPr b="1">
              <a:solidFill>
                <a:schemeClr val="dk2"/>
              </a:solidFill>
            </a:endParaRPr>
          </a:p>
          <a:p>
            <a:pPr indent="0" lvl="0" marL="0" rtl="0" algn="l">
              <a:spcBef>
                <a:spcPts val="1200"/>
              </a:spcBef>
              <a:spcAft>
                <a:spcPts val="0"/>
              </a:spcAft>
              <a:buNone/>
            </a:pPr>
            <a:r>
              <a:rPr b="1" lang="es">
                <a:solidFill>
                  <a:schemeClr val="dk2"/>
                </a:solidFill>
              </a:rPr>
              <a:t>- 7:03</a:t>
            </a:r>
            <a:endParaRPr b="1">
              <a:solidFill>
                <a:schemeClr val="dk2"/>
              </a:solidFill>
            </a:endParaRPr>
          </a:p>
          <a:p>
            <a:pPr indent="0" lvl="0" marL="0" rtl="0" algn="l">
              <a:spcBef>
                <a:spcPts val="1200"/>
              </a:spcBef>
              <a:spcAft>
                <a:spcPts val="1200"/>
              </a:spcAft>
              <a:buNone/>
            </a:pPr>
            <a:r>
              <a:rPr b="1" lang="es">
                <a:solidFill>
                  <a:schemeClr val="dk2"/>
                </a:solidFill>
              </a:rPr>
              <a:t>- 12:03</a:t>
            </a:r>
            <a:endParaRPr b="1">
              <a:solidFill>
                <a:schemeClr val="dk2"/>
              </a:solidFill>
            </a:endParaRPr>
          </a:p>
        </p:txBody>
      </p:sp>
      <p:pic>
        <p:nvPicPr>
          <p:cNvPr id="95" name="Google Shape;95;p14"/>
          <p:cNvPicPr preferRelativeResize="0"/>
          <p:nvPr/>
        </p:nvPicPr>
        <p:blipFill>
          <a:blip r:embed="rId3">
            <a:alphaModFix/>
          </a:blip>
          <a:stretch>
            <a:fillRect/>
          </a:stretch>
        </p:blipFill>
        <p:spPr>
          <a:xfrm>
            <a:off x="4572000" y="740025"/>
            <a:ext cx="4313450" cy="4119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573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Días</a:t>
            </a:r>
            <a:r>
              <a:rPr lang="es"/>
              <a:t> con mayor alcance</a:t>
            </a:r>
            <a:endParaRPr/>
          </a:p>
        </p:txBody>
      </p:sp>
      <p:sp>
        <p:nvSpPr>
          <p:cNvPr id="101" name="Google Shape;101;p15"/>
          <p:cNvSpPr txBox="1"/>
          <p:nvPr>
            <p:ph idx="1" type="body"/>
          </p:nvPr>
        </p:nvSpPr>
        <p:spPr>
          <a:xfrm>
            <a:off x="4705449" y="573474"/>
            <a:ext cx="4360200" cy="12627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s"/>
              <a:t>Un boxplot es una forma de mostrar la distribución de datos de manera simple y visual. Consiste en un rectángulo (la caja) que representa el rango central de los datos (50% de los datos), con una línea en medio que indica la mediana (valor medio). Los "bigotes" que se extienden desde la caja muestran la dispersión de los datos hacia los valores extremos. Puedes usar un boxplot para entender cómo se distribuyen tus datos y detectar valores inusuales fácilmente. Es una herramienta útil para resumir y comparar datos sin complicaciones técnicas.</a:t>
            </a:r>
            <a:endParaRPr/>
          </a:p>
          <a:p>
            <a:pPr indent="0" lvl="0" marL="0" rtl="0" algn="l">
              <a:spcBef>
                <a:spcPts val="1200"/>
              </a:spcBef>
              <a:spcAft>
                <a:spcPts val="1200"/>
              </a:spcAft>
              <a:buNone/>
            </a:pPr>
            <a:r>
              <a:t/>
            </a:r>
            <a:endParaRPr/>
          </a:p>
        </p:txBody>
      </p:sp>
      <p:pic>
        <p:nvPicPr>
          <p:cNvPr id="102" name="Google Shape;102;p15"/>
          <p:cNvPicPr preferRelativeResize="0"/>
          <p:nvPr/>
        </p:nvPicPr>
        <p:blipFill>
          <a:blip r:embed="rId3">
            <a:alphaModFix/>
          </a:blip>
          <a:stretch>
            <a:fillRect/>
          </a:stretch>
        </p:blipFill>
        <p:spPr>
          <a:xfrm>
            <a:off x="4572000" y="1536725"/>
            <a:ext cx="4493651" cy="3180075"/>
          </a:xfrm>
          <a:prstGeom prst="rect">
            <a:avLst/>
          </a:prstGeom>
          <a:noFill/>
          <a:ln>
            <a:noFill/>
          </a:ln>
        </p:spPr>
      </p:pic>
      <p:sp>
        <p:nvSpPr>
          <p:cNvPr id="103" name="Google Shape;103;p15"/>
          <p:cNvSpPr txBox="1"/>
          <p:nvPr>
            <p:ph idx="1" type="body"/>
          </p:nvPr>
        </p:nvSpPr>
        <p:spPr>
          <a:xfrm>
            <a:off x="411400" y="1536725"/>
            <a:ext cx="7688700" cy="334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Gracias al box-plot, podemos determinar cuales fueron </a:t>
            </a:r>
            <a:endParaRPr/>
          </a:p>
          <a:p>
            <a:pPr indent="0" lvl="0" marL="0" rtl="0" algn="l">
              <a:spcBef>
                <a:spcPts val="1200"/>
              </a:spcBef>
              <a:spcAft>
                <a:spcPts val="0"/>
              </a:spcAft>
              <a:buNone/>
            </a:pPr>
            <a:r>
              <a:rPr lang="es"/>
              <a:t>los </a:t>
            </a:r>
            <a:r>
              <a:rPr lang="es"/>
              <a:t>Días</a:t>
            </a:r>
            <a:r>
              <a:rPr lang="es"/>
              <a:t> en los que se </a:t>
            </a:r>
            <a:r>
              <a:rPr lang="es"/>
              <a:t>generó</a:t>
            </a:r>
            <a:r>
              <a:rPr lang="es"/>
              <a:t> mayor alcance</a:t>
            </a:r>
            <a:endParaRPr/>
          </a:p>
          <a:p>
            <a:pPr indent="0" lvl="0" marL="0" rtl="0" algn="l">
              <a:spcBef>
                <a:spcPts val="1200"/>
              </a:spcBef>
              <a:spcAft>
                <a:spcPts val="0"/>
              </a:spcAft>
              <a:buNone/>
            </a:pPr>
            <a:r>
              <a:rPr b="1" lang="es">
                <a:solidFill>
                  <a:schemeClr val="dk2"/>
                </a:solidFill>
              </a:rPr>
              <a:t>-</a:t>
            </a:r>
            <a:r>
              <a:rPr b="1" lang="es">
                <a:solidFill>
                  <a:schemeClr val="dk2"/>
                </a:solidFill>
              </a:rPr>
              <a:t>Miércoles</a:t>
            </a:r>
            <a:endParaRPr b="1">
              <a:solidFill>
                <a:schemeClr val="dk2"/>
              </a:solidFill>
            </a:endParaRPr>
          </a:p>
          <a:p>
            <a:pPr indent="0" lvl="0" marL="0" rtl="0" algn="l">
              <a:spcBef>
                <a:spcPts val="1200"/>
              </a:spcBef>
              <a:spcAft>
                <a:spcPts val="0"/>
              </a:spcAft>
              <a:buNone/>
            </a:pPr>
            <a:r>
              <a:rPr b="1" lang="es">
                <a:solidFill>
                  <a:schemeClr val="dk2"/>
                </a:solidFill>
              </a:rPr>
              <a:t>-Lunes</a:t>
            </a:r>
            <a:endParaRPr b="1">
              <a:solidFill>
                <a:schemeClr val="dk2"/>
              </a:solidFill>
            </a:endParaRPr>
          </a:p>
          <a:p>
            <a:pPr indent="0" lvl="0" marL="0" rtl="0" algn="l">
              <a:spcBef>
                <a:spcPts val="1200"/>
              </a:spcBef>
              <a:spcAft>
                <a:spcPts val="0"/>
              </a:spcAft>
              <a:buNone/>
            </a:pPr>
            <a:r>
              <a:rPr b="1" lang="es">
                <a:solidFill>
                  <a:schemeClr val="dk2"/>
                </a:solidFill>
              </a:rPr>
              <a:t>-Viernes</a:t>
            </a:r>
            <a:endParaRPr b="1">
              <a:solidFill>
                <a:schemeClr val="dk2"/>
              </a:solidFill>
            </a:endParaRPr>
          </a:p>
          <a:p>
            <a:pPr indent="0" lvl="0" marL="0" rtl="0" algn="l">
              <a:spcBef>
                <a:spcPts val="1200"/>
              </a:spcBef>
              <a:spcAft>
                <a:spcPts val="1200"/>
              </a:spcAft>
              <a:buNone/>
            </a:pPr>
            <a:r>
              <a:rPr b="1" lang="es">
                <a:solidFill>
                  <a:schemeClr val="dk2"/>
                </a:solidFill>
              </a:rPr>
              <a:t>-Sábado</a:t>
            </a:r>
            <a:endParaRPr b="1">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727650" y="364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Segundos con mayor </a:t>
            </a:r>
            <a:r>
              <a:rPr lang="es"/>
              <a:t>número</a:t>
            </a:r>
            <a:r>
              <a:rPr lang="es"/>
              <a:t> de, reacciones, comentarios, reproducciones</a:t>
            </a:r>
            <a:endParaRPr/>
          </a:p>
        </p:txBody>
      </p:sp>
      <p:sp>
        <p:nvSpPr>
          <p:cNvPr id="109" name="Google Shape;109;p16"/>
          <p:cNvSpPr txBox="1"/>
          <p:nvPr>
            <p:ph idx="1" type="body"/>
          </p:nvPr>
        </p:nvSpPr>
        <p:spPr>
          <a:xfrm>
            <a:off x="484100" y="1610763"/>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 ha encontrado que las publicaciones audio-visuales con </a:t>
            </a:r>
            <a:endParaRPr/>
          </a:p>
          <a:p>
            <a:pPr indent="0" lvl="0" marL="0" rtl="0" algn="l">
              <a:spcBef>
                <a:spcPts val="1200"/>
              </a:spcBef>
              <a:spcAft>
                <a:spcPts val="0"/>
              </a:spcAft>
              <a:buNone/>
            </a:pPr>
            <a:r>
              <a:rPr lang="es"/>
              <a:t>una </a:t>
            </a:r>
            <a:r>
              <a:rPr lang="es"/>
              <a:t>duración entre </a:t>
            </a:r>
            <a:r>
              <a:rPr b="1" lang="es">
                <a:solidFill>
                  <a:schemeClr val="dk2"/>
                </a:solidFill>
              </a:rPr>
              <a:t>25 y 45</a:t>
            </a:r>
            <a:r>
              <a:rPr lang="es"/>
              <a:t> segundos son las más propicias a </a:t>
            </a:r>
            <a:endParaRPr/>
          </a:p>
          <a:p>
            <a:pPr indent="0" lvl="0" marL="0" rtl="0" algn="l">
              <a:spcBef>
                <a:spcPts val="1200"/>
              </a:spcBef>
              <a:spcAft>
                <a:spcPts val="0"/>
              </a:spcAft>
              <a:buNone/>
            </a:pPr>
            <a:r>
              <a:rPr lang="es"/>
              <a:t>generar más interacción </a:t>
            </a:r>
            <a:endParaRPr/>
          </a:p>
          <a:p>
            <a:pPr indent="0" lvl="0" marL="0" rtl="0" algn="l">
              <a:spcBef>
                <a:spcPts val="1200"/>
              </a:spcBef>
              <a:spcAft>
                <a:spcPts val="1200"/>
              </a:spcAft>
              <a:buNone/>
            </a:pPr>
            <a:r>
              <a:rPr lang="es"/>
              <a:t> </a:t>
            </a:r>
            <a:endParaRPr/>
          </a:p>
        </p:txBody>
      </p:sp>
      <p:pic>
        <p:nvPicPr>
          <p:cNvPr id="110" name="Google Shape;110;p16"/>
          <p:cNvPicPr preferRelativeResize="0"/>
          <p:nvPr/>
        </p:nvPicPr>
        <p:blipFill>
          <a:blip r:embed="rId3">
            <a:alphaModFix/>
          </a:blip>
          <a:stretch>
            <a:fillRect/>
          </a:stretch>
        </p:blipFill>
        <p:spPr>
          <a:xfrm>
            <a:off x="4977775" y="1045050"/>
            <a:ext cx="3863651" cy="3737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811250" y="566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Publicación</a:t>
            </a:r>
            <a:r>
              <a:rPr lang="es"/>
              <a:t> </a:t>
            </a:r>
            <a:r>
              <a:rPr lang="es"/>
              <a:t>atípica</a:t>
            </a:r>
            <a:endParaRPr/>
          </a:p>
        </p:txBody>
      </p:sp>
      <p:sp>
        <p:nvSpPr>
          <p:cNvPr id="116" name="Google Shape;116;p17"/>
          <p:cNvSpPr txBox="1"/>
          <p:nvPr>
            <p:ph idx="1" type="body"/>
          </p:nvPr>
        </p:nvSpPr>
        <p:spPr>
          <a:xfrm>
            <a:off x="727650" y="1533650"/>
            <a:ext cx="4468200" cy="3110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Se ha encontrado una </a:t>
            </a:r>
            <a:r>
              <a:rPr lang="es"/>
              <a:t>publicación</a:t>
            </a:r>
            <a:r>
              <a:rPr lang="es"/>
              <a:t> que </a:t>
            </a:r>
            <a:r>
              <a:rPr lang="es"/>
              <a:t>superó</a:t>
            </a:r>
            <a:r>
              <a:rPr lang="es"/>
              <a:t> a todas las</a:t>
            </a:r>
            <a:endParaRPr/>
          </a:p>
          <a:p>
            <a:pPr indent="0" lvl="0" marL="0" rtl="0" algn="l">
              <a:spcBef>
                <a:spcPts val="1200"/>
              </a:spcBef>
              <a:spcAft>
                <a:spcPts val="0"/>
              </a:spcAft>
              <a:buNone/>
            </a:pPr>
            <a:r>
              <a:rPr lang="es"/>
              <a:t>demás</a:t>
            </a:r>
            <a:r>
              <a:rPr lang="es"/>
              <a:t> en </a:t>
            </a:r>
            <a:r>
              <a:rPr lang="es"/>
              <a:t>materia de</a:t>
            </a:r>
            <a:r>
              <a:rPr lang="es"/>
              <a:t> </a:t>
            </a:r>
            <a:r>
              <a:rPr b="1" i="1" lang="es" sz="1400"/>
              <a:t>comentarios, total de clicks, reacciones</a:t>
            </a:r>
            <a:endParaRPr b="1" i="1" sz="1400"/>
          </a:p>
          <a:p>
            <a:pPr indent="0" lvl="0" marL="0" rtl="0" algn="l">
              <a:spcBef>
                <a:spcPts val="1200"/>
              </a:spcBef>
              <a:spcAft>
                <a:spcPts val="0"/>
              </a:spcAft>
              <a:buNone/>
            </a:pPr>
            <a:r>
              <a:rPr b="1" i="1" lang="es" sz="1400"/>
              <a:t>y alcance</a:t>
            </a:r>
            <a:r>
              <a:rPr lang="es"/>
              <a:t> y la </a:t>
            </a:r>
            <a:r>
              <a:rPr lang="es"/>
              <a:t>descripción</a:t>
            </a:r>
            <a:r>
              <a:rPr lang="es"/>
              <a:t> de esta </a:t>
            </a:r>
            <a:r>
              <a:rPr lang="es"/>
              <a:t>publicación</a:t>
            </a:r>
            <a:r>
              <a:rPr lang="es"/>
              <a:t> es:</a:t>
            </a:r>
            <a:endParaRPr/>
          </a:p>
          <a:p>
            <a:pPr indent="0" lvl="0" marL="0" rtl="0" algn="l">
              <a:spcBef>
                <a:spcPts val="1200"/>
              </a:spcBef>
              <a:spcAft>
                <a:spcPts val="0"/>
              </a:spcAft>
              <a:buNone/>
            </a:pPr>
            <a:r>
              <a:rPr lang="es"/>
              <a:t> </a:t>
            </a:r>
            <a:r>
              <a:rPr lang="es" sz="1050">
                <a:solidFill>
                  <a:srgbClr val="D5D5D5"/>
                </a:solidFill>
                <a:highlight>
                  <a:srgbClr val="383838"/>
                </a:highlight>
                <a:latin typeface="Courier New"/>
                <a:ea typeface="Courier New"/>
                <a:cs typeface="Courier New"/>
                <a:sym typeface="Courier New"/>
              </a:rPr>
              <a:t>Identificador de la publicación con mayor alcance: 822593843241283</a:t>
            </a:r>
            <a:endParaRPr sz="1050">
              <a:solidFill>
                <a:srgbClr val="D5D5D5"/>
              </a:solidFill>
              <a:highlight>
                <a:srgbClr val="383838"/>
              </a:highlight>
              <a:latin typeface="Courier New"/>
              <a:ea typeface="Courier New"/>
              <a:cs typeface="Courier New"/>
              <a:sym typeface="Courier New"/>
            </a:endParaRPr>
          </a:p>
          <a:p>
            <a:pPr indent="0" lvl="0" marL="0" rtl="0" algn="l">
              <a:spcBef>
                <a:spcPts val="1200"/>
              </a:spcBef>
              <a:spcAft>
                <a:spcPts val="0"/>
              </a:spcAft>
              <a:buNone/>
            </a:pPr>
            <a:r>
              <a:rPr lang="es" sz="1050">
                <a:solidFill>
                  <a:srgbClr val="D5D5D5"/>
                </a:solidFill>
                <a:highlight>
                  <a:srgbClr val="383838"/>
                </a:highlight>
                <a:latin typeface="Courier New"/>
                <a:ea typeface="Courier New"/>
                <a:cs typeface="Courier New"/>
                <a:sym typeface="Courier New"/>
              </a:rPr>
              <a:t>Descripción de la publicación con mayor alcance (ID: 822593843241283 ): El alcalde municipal, Gustavo Vélez, explica con detalle la razón por la cual fue retirada el acrílico de TULUÁ que representaba una marca de gobierno en la Plaza Cívica Boyacá.✅</a:t>
            </a:r>
            <a:endParaRPr/>
          </a:p>
          <a:p>
            <a:pPr indent="0" lvl="0" marL="0" rtl="0" algn="l">
              <a:spcBef>
                <a:spcPts val="1200"/>
              </a:spcBef>
              <a:spcAft>
                <a:spcPts val="1200"/>
              </a:spcAft>
              <a:buNone/>
            </a:pPr>
            <a:r>
              <a:t/>
            </a:r>
            <a:endParaRPr/>
          </a:p>
        </p:txBody>
      </p:sp>
      <p:pic>
        <p:nvPicPr>
          <p:cNvPr id="117" name="Google Shape;117;p17"/>
          <p:cNvPicPr preferRelativeResize="0"/>
          <p:nvPr/>
        </p:nvPicPr>
        <p:blipFill>
          <a:blip r:embed="rId3">
            <a:alphaModFix/>
          </a:blip>
          <a:stretch>
            <a:fillRect/>
          </a:stretch>
        </p:blipFill>
        <p:spPr>
          <a:xfrm>
            <a:off x="5249299" y="883874"/>
            <a:ext cx="3894700" cy="3877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9450" y="618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Matriz de </a:t>
            </a:r>
            <a:r>
              <a:rPr lang="es"/>
              <a:t>correlación</a:t>
            </a:r>
            <a:endParaRPr/>
          </a:p>
        </p:txBody>
      </p:sp>
      <p:sp>
        <p:nvSpPr>
          <p:cNvPr id="123" name="Google Shape;123;p18"/>
          <p:cNvSpPr txBox="1"/>
          <p:nvPr>
            <p:ph idx="1" type="body"/>
          </p:nvPr>
        </p:nvSpPr>
        <p:spPr>
          <a:xfrm>
            <a:off x="811250" y="1441200"/>
            <a:ext cx="7688700" cy="34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esta revela que las variables que mas </a:t>
            </a:r>
            <a:endParaRPr/>
          </a:p>
          <a:p>
            <a:pPr indent="0" lvl="0" marL="0" rtl="0" algn="l">
              <a:spcBef>
                <a:spcPts val="1200"/>
              </a:spcBef>
              <a:spcAft>
                <a:spcPts val="0"/>
              </a:spcAft>
              <a:buNone/>
            </a:pPr>
            <a:r>
              <a:rPr lang="es"/>
              <a:t>influyen dentro de las </a:t>
            </a:r>
            <a:r>
              <a:rPr lang="es"/>
              <a:t>métricas</a:t>
            </a:r>
            <a:r>
              <a:rPr lang="es"/>
              <a:t> generales </a:t>
            </a:r>
            <a:endParaRPr/>
          </a:p>
          <a:p>
            <a:pPr indent="0" lvl="0" marL="0" rtl="0" algn="l">
              <a:spcBef>
                <a:spcPts val="1200"/>
              </a:spcBef>
              <a:spcAft>
                <a:spcPts val="0"/>
              </a:spcAft>
              <a:buNone/>
            </a:pPr>
            <a:r>
              <a:rPr lang="es"/>
              <a:t>de una </a:t>
            </a:r>
            <a:r>
              <a:rPr lang="es"/>
              <a:t>publicación  son: </a:t>
            </a:r>
            <a:endParaRPr/>
          </a:p>
          <a:p>
            <a:pPr indent="-311150" lvl="0" marL="457200" rtl="0" algn="l">
              <a:spcBef>
                <a:spcPts val="1200"/>
              </a:spcBef>
              <a:spcAft>
                <a:spcPts val="0"/>
              </a:spcAft>
              <a:buClr>
                <a:schemeClr val="dk2"/>
              </a:buClr>
              <a:buSzPts val="1300"/>
              <a:buAutoNum type="arabicPeriod"/>
            </a:pPr>
            <a:r>
              <a:rPr b="1" i="1" lang="es">
                <a:solidFill>
                  <a:schemeClr val="dk2"/>
                </a:solidFill>
              </a:rPr>
              <a:t>Impresiones</a:t>
            </a:r>
            <a:endParaRPr b="1" i="1">
              <a:solidFill>
                <a:schemeClr val="dk2"/>
              </a:solidFill>
            </a:endParaRPr>
          </a:p>
          <a:p>
            <a:pPr indent="-311150" lvl="0" marL="457200" rtl="0" algn="l">
              <a:spcBef>
                <a:spcPts val="0"/>
              </a:spcBef>
              <a:spcAft>
                <a:spcPts val="0"/>
              </a:spcAft>
              <a:buClr>
                <a:schemeClr val="dk2"/>
              </a:buClr>
              <a:buSzPts val="1300"/>
              <a:buAutoNum type="arabicPeriod"/>
            </a:pPr>
            <a:r>
              <a:rPr b="1" i="1" lang="es">
                <a:solidFill>
                  <a:schemeClr val="dk2"/>
                </a:solidFill>
              </a:rPr>
              <a:t>Veces que se compartió</a:t>
            </a:r>
            <a:endParaRPr b="1" i="1">
              <a:solidFill>
                <a:schemeClr val="dk2"/>
              </a:solidFill>
            </a:endParaRPr>
          </a:p>
          <a:p>
            <a:pPr indent="-311150" lvl="0" marL="457200" rtl="0" algn="l">
              <a:spcBef>
                <a:spcPts val="0"/>
              </a:spcBef>
              <a:spcAft>
                <a:spcPts val="0"/>
              </a:spcAft>
              <a:buClr>
                <a:schemeClr val="dk2"/>
              </a:buClr>
              <a:buSzPts val="1300"/>
              <a:buAutoNum type="arabicPeriod"/>
            </a:pPr>
            <a:r>
              <a:rPr b="1" i="1" lang="es">
                <a:solidFill>
                  <a:schemeClr val="dk2"/>
                </a:solidFill>
              </a:rPr>
              <a:t>Clicks de otro tipo</a:t>
            </a:r>
            <a:endParaRPr b="1" i="1">
              <a:solidFill>
                <a:schemeClr val="dk2"/>
              </a:solidFill>
            </a:endParaRPr>
          </a:p>
          <a:p>
            <a:pPr indent="-311150" lvl="0" marL="457200" rtl="0" algn="l">
              <a:spcBef>
                <a:spcPts val="0"/>
              </a:spcBef>
              <a:spcAft>
                <a:spcPts val="0"/>
              </a:spcAft>
              <a:buClr>
                <a:schemeClr val="dk2"/>
              </a:buClr>
              <a:buSzPts val="1300"/>
              <a:buAutoNum type="arabicPeriod"/>
            </a:pPr>
            <a:r>
              <a:rPr b="1" i="1" lang="es">
                <a:solidFill>
                  <a:schemeClr val="dk2"/>
                </a:solidFill>
              </a:rPr>
              <a:t>Segundos reproducidos</a:t>
            </a:r>
            <a:endParaRPr b="1" i="1">
              <a:solidFill>
                <a:schemeClr val="dk2"/>
              </a:solidFill>
            </a:endParaRPr>
          </a:p>
        </p:txBody>
      </p:sp>
      <p:pic>
        <p:nvPicPr>
          <p:cNvPr id="124" name="Google Shape;124;p18"/>
          <p:cNvPicPr preferRelativeResize="0"/>
          <p:nvPr/>
        </p:nvPicPr>
        <p:blipFill>
          <a:blip r:embed="rId3">
            <a:alphaModFix/>
          </a:blip>
          <a:stretch>
            <a:fillRect/>
          </a:stretch>
        </p:blipFill>
        <p:spPr>
          <a:xfrm>
            <a:off x="3895525" y="736625"/>
            <a:ext cx="5248475" cy="4406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