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11d71d5b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11d71d5b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1d71d5bf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1d71d5bf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11f29169b2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11f29169b2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11d71d5bf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11d71d5bf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11f29169b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11f29169b2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11f29169b2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11f29169b2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11f29169b2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11f29169b2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38350" y="1869250"/>
            <a:ext cx="8860200" cy="242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990"/>
              <a:buFont typeface="Arial"/>
              <a:buNone/>
            </a:pPr>
            <a:r>
              <a:rPr lang="es" sz="2480"/>
              <a:t>Análisis exploratorio segmentado: hallazgos en la data generada por la red social facebook de la </a:t>
            </a:r>
            <a:r>
              <a:rPr lang="es" sz="2480">
                <a:solidFill>
                  <a:schemeClr val="accent3"/>
                </a:solidFill>
              </a:rPr>
              <a:t>Municipalidad,</a:t>
            </a:r>
            <a:r>
              <a:rPr lang="es" sz="2480"/>
              <a:t> correspondiente al mes de Mayo 2024</a:t>
            </a:r>
            <a:endParaRPr/>
          </a:p>
        </p:txBody>
      </p:sp>
      <p:sp>
        <p:nvSpPr>
          <p:cNvPr id="87" name="Google Shape;87;p13"/>
          <p:cNvSpPr txBox="1"/>
          <p:nvPr/>
        </p:nvSpPr>
        <p:spPr>
          <a:xfrm>
            <a:off x="463208" y="4250175"/>
            <a:ext cx="2157300" cy="6381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160"/>
              <a:buFont typeface="Arial"/>
              <a:buNone/>
            </a:pPr>
            <a:r>
              <a:rPr b="0" i="0" lang="es" sz="1160" u="none" cap="none" strike="noStrike">
                <a:solidFill>
                  <a:srgbClr val="595959"/>
                </a:solidFill>
                <a:latin typeface="Lato"/>
                <a:ea typeface="Lato"/>
                <a:cs typeface="Lato"/>
                <a:sym typeface="Lato"/>
              </a:rPr>
              <a:t>-Geronimo Saldaña Espinal. Data Science</a:t>
            </a:r>
            <a:endParaRPr b="0" i="0" sz="1160" u="none" cap="none" strike="noStrike">
              <a:solidFill>
                <a:srgbClr val="595959"/>
              </a:solidFill>
              <a:latin typeface="Lato"/>
              <a:ea typeface="Lato"/>
              <a:cs typeface="Lato"/>
              <a:sym typeface="Lato"/>
            </a:endParaRPr>
          </a:p>
          <a:p>
            <a:pPr indent="0" lvl="0" marL="0" marR="0" rtl="0" algn="l">
              <a:lnSpc>
                <a:spcPct val="80000"/>
              </a:lnSpc>
              <a:spcBef>
                <a:spcPts val="0"/>
              </a:spcBef>
              <a:spcAft>
                <a:spcPts val="0"/>
              </a:spcAft>
              <a:buClr>
                <a:srgbClr val="000000"/>
              </a:buClr>
              <a:buSzPts val="1160"/>
              <a:buFont typeface="Arial"/>
              <a:buNone/>
            </a:pPr>
            <a:r>
              <a:rPr b="0" i="0" lang="es" sz="1160" u="none" cap="none" strike="noStrike">
                <a:solidFill>
                  <a:srgbClr val="595959"/>
                </a:solidFill>
                <a:latin typeface="Lato"/>
                <a:ea typeface="Lato"/>
                <a:cs typeface="Lato"/>
                <a:sym typeface="Lato"/>
              </a:rPr>
              <a:t>-13/06/2024</a:t>
            </a:r>
            <a:endParaRPr b="0" i="0" sz="1160" u="none" cap="none" strike="noStrike">
              <a:solidFill>
                <a:srgbClr val="595959"/>
              </a:solidFill>
              <a:latin typeface="Lato"/>
              <a:ea typeface="Lato"/>
              <a:cs typeface="Lato"/>
              <a:sym typeface="Lato"/>
            </a:endParaRPr>
          </a:p>
        </p:txBody>
      </p:sp>
      <p:pic>
        <p:nvPicPr>
          <p:cNvPr id="88" name="Google Shape;88;p13"/>
          <p:cNvPicPr preferRelativeResize="0"/>
          <p:nvPr/>
        </p:nvPicPr>
        <p:blipFill>
          <a:blip r:embed="rId3">
            <a:alphaModFix/>
          </a:blip>
          <a:stretch>
            <a:fillRect/>
          </a:stretch>
        </p:blipFill>
        <p:spPr>
          <a:xfrm>
            <a:off x="3552881" y="-59325"/>
            <a:ext cx="2041225" cy="2041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4"/>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94" name="Google Shape;94;p14"/>
          <p:cNvSpPr txBox="1"/>
          <p:nvPr>
            <p:ph type="title"/>
          </p:nvPr>
        </p:nvSpPr>
        <p:spPr>
          <a:xfrm>
            <a:off x="3178400" y="284250"/>
            <a:ext cx="5965500" cy="77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Matriz de </a:t>
            </a:r>
            <a:r>
              <a:rPr lang="es"/>
              <a:t>correlación</a:t>
            </a:r>
            <a:r>
              <a:rPr lang="es"/>
              <a:t> general del 2024-05-01(fecha inicial) al 2024-05-30</a:t>
            </a:r>
            <a:endParaRPr/>
          </a:p>
        </p:txBody>
      </p:sp>
      <p:sp>
        <p:nvSpPr>
          <p:cNvPr id="95" name="Google Shape;95;p14"/>
          <p:cNvSpPr txBox="1"/>
          <p:nvPr>
            <p:ph idx="1" type="body"/>
          </p:nvPr>
        </p:nvSpPr>
        <p:spPr>
          <a:xfrm>
            <a:off x="0" y="2663400"/>
            <a:ext cx="2082900" cy="248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Se puede observar una </a:t>
            </a:r>
            <a:r>
              <a:rPr b="1" lang="es">
                <a:solidFill>
                  <a:schemeClr val="dk2"/>
                </a:solidFill>
              </a:rPr>
              <a:t>relación</a:t>
            </a:r>
            <a:r>
              <a:rPr b="1" lang="es">
                <a:solidFill>
                  <a:schemeClr val="dk2"/>
                </a:solidFill>
              </a:rPr>
              <a:t> negativa entre las impresiones y la </a:t>
            </a:r>
            <a:r>
              <a:rPr b="1" lang="es">
                <a:solidFill>
                  <a:schemeClr val="dk2"/>
                </a:solidFill>
              </a:rPr>
              <a:t>duración</a:t>
            </a:r>
            <a:r>
              <a:rPr b="1" lang="es">
                <a:solidFill>
                  <a:schemeClr val="dk2"/>
                </a:solidFill>
              </a:rPr>
              <a:t> en segundos</a:t>
            </a:r>
            <a:r>
              <a:rPr lang="es"/>
              <a:t>,  aparte de esta, no se </a:t>
            </a:r>
            <a:r>
              <a:rPr lang="es"/>
              <a:t>observaron</a:t>
            </a:r>
            <a:r>
              <a:rPr lang="es"/>
              <a:t> </a:t>
            </a:r>
            <a:r>
              <a:rPr lang="es"/>
              <a:t>más</a:t>
            </a:r>
            <a:r>
              <a:rPr lang="es"/>
              <a:t> </a:t>
            </a:r>
            <a:r>
              <a:rPr lang="es"/>
              <a:t>anomalías</a:t>
            </a:r>
            <a:r>
              <a:rPr lang="es"/>
              <a:t> dentro de esta matriz de </a:t>
            </a:r>
            <a:r>
              <a:rPr lang="es"/>
              <a:t>correlación</a:t>
            </a:r>
            <a:endParaRPr b="1">
              <a:solidFill>
                <a:schemeClr val="dk2"/>
              </a:solidFill>
            </a:endParaRPr>
          </a:p>
        </p:txBody>
      </p:sp>
      <p:pic>
        <p:nvPicPr>
          <p:cNvPr id="96" name="Google Shape;96;p14"/>
          <p:cNvPicPr preferRelativeResize="0"/>
          <p:nvPr/>
        </p:nvPicPr>
        <p:blipFill>
          <a:blip r:embed="rId4">
            <a:alphaModFix/>
          </a:blip>
          <a:stretch>
            <a:fillRect/>
          </a:stretch>
        </p:blipFill>
        <p:spPr>
          <a:xfrm>
            <a:off x="2193925" y="1318225"/>
            <a:ext cx="6950074" cy="3825275"/>
          </a:xfrm>
          <a:prstGeom prst="rect">
            <a:avLst/>
          </a:prstGeom>
          <a:noFill/>
          <a:ln>
            <a:noFill/>
          </a:ln>
        </p:spPr>
      </p:pic>
      <p:sp>
        <p:nvSpPr>
          <p:cNvPr id="97" name="Google Shape;97;p14"/>
          <p:cNvSpPr txBox="1"/>
          <p:nvPr/>
        </p:nvSpPr>
        <p:spPr>
          <a:xfrm>
            <a:off x="514200" y="1925250"/>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5"/>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03" name="Google Shape;103;p15"/>
          <p:cNvSpPr txBox="1"/>
          <p:nvPr>
            <p:ph type="title"/>
          </p:nvPr>
        </p:nvSpPr>
        <p:spPr>
          <a:xfrm>
            <a:off x="3614600" y="0"/>
            <a:ext cx="5834100" cy="79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140"/>
              <a:t>Dias de publicacion con mayor alcance</a:t>
            </a:r>
            <a:r>
              <a:rPr lang="es" sz="2140"/>
              <a:t> general del 2024-05-01</a:t>
            </a:r>
            <a:r>
              <a:rPr lang="es" sz="2140"/>
              <a:t>(fecha inicial)</a:t>
            </a:r>
            <a:r>
              <a:rPr lang="es" sz="2140"/>
              <a:t> al 2024-05-30</a:t>
            </a:r>
            <a:endParaRPr sz="2140"/>
          </a:p>
        </p:txBody>
      </p:sp>
      <p:sp>
        <p:nvSpPr>
          <p:cNvPr id="104" name="Google Shape;104;p15"/>
          <p:cNvSpPr txBox="1"/>
          <p:nvPr>
            <p:ph idx="1" type="body"/>
          </p:nvPr>
        </p:nvSpPr>
        <p:spPr>
          <a:xfrm>
            <a:off x="47350" y="2935775"/>
            <a:ext cx="3670200" cy="16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Los </a:t>
            </a:r>
            <a:r>
              <a:rPr lang="es"/>
              <a:t>días</a:t>
            </a:r>
            <a:r>
              <a:rPr lang="es"/>
              <a:t> </a:t>
            </a:r>
            <a:r>
              <a:rPr b="1" lang="es">
                <a:solidFill>
                  <a:schemeClr val="dk2"/>
                </a:solidFill>
              </a:rPr>
              <a:t>05/02/2024</a:t>
            </a:r>
            <a:r>
              <a:rPr lang="es"/>
              <a:t> y </a:t>
            </a:r>
            <a:r>
              <a:rPr b="1" lang="es">
                <a:solidFill>
                  <a:schemeClr val="dk2"/>
                </a:solidFill>
              </a:rPr>
              <a:t>05/06/2024</a:t>
            </a:r>
            <a:r>
              <a:rPr lang="es"/>
              <a:t> fueron donde se presente un alcance mucho más constante, pero los días </a:t>
            </a:r>
            <a:r>
              <a:rPr b="1" lang="es">
                <a:solidFill>
                  <a:schemeClr val="dk2"/>
                </a:solidFill>
              </a:rPr>
              <a:t>05/11/2024</a:t>
            </a:r>
            <a:r>
              <a:rPr lang="es"/>
              <a:t> y </a:t>
            </a:r>
            <a:r>
              <a:rPr b="1" lang="es">
                <a:solidFill>
                  <a:schemeClr val="dk2"/>
                </a:solidFill>
              </a:rPr>
              <a:t>05/10/2024 </a:t>
            </a:r>
            <a:r>
              <a:rPr lang="es"/>
              <a:t>fueron los días donde se publicaron los contenidos de mayor alcance</a:t>
            </a:r>
            <a:endParaRPr/>
          </a:p>
        </p:txBody>
      </p:sp>
      <p:pic>
        <p:nvPicPr>
          <p:cNvPr id="105" name="Google Shape;105;p15"/>
          <p:cNvPicPr preferRelativeResize="0"/>
          <p:nvPr/>
        </p:nvPicPr>
        <p:blipFill>
          <a:blip r:embed="rId4">
            <a:alphaModFix/>
          </a:blip>
          <a:stretch>
            <a:fillRect/>
          </a:stretch>
        </p:blipFill>
        <p:spPr>
          <a:xfrm>
            <a:off x="4501050" y="1100125"/>
            <a:ext cx="4638675" cy="4043375"/>
          </a:xfrm>
          <a:prstGeom prst="rect">
            <a:avLst/>
          </a:prstGeom>
          <a:noFill/>
          <a:ln>
            <a:noFill/>
          </a:ln>
        </p:spPr>
      </p:pic>
      <p:sp>
        <p:nvSpPr>
          <p:cNvPr id="106" name="Google Shape;106;p15"/>
          <p:cNvSpPr txBox="1"/>
          <p:nvPr/>
        </p:nvSpPr>
        <p:spPr>
          <a:xfrm>
            <a:off x="514200" y="1925250"/>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6"/>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12" name="Google Shape;112;p16"/>
          <p:cNvSpPr txBox="1"/>
          <p:nvPr/>
        </p:nvSpPr>
        <p:spPr>
          <a:xfrm>
            <a:off x="514200" y="1925250"/>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
        <p:nvSpPr>
          <p:cNvPr id="113" name="Google Shape;113;p16"/>
          <p:cNvSpPr txBox="1"/>
          <p:nvPr>
            <p:ph idx="1" type="body"/>
          </p:nvPr>
        </p:nvSpPr>
        <p:spPr>
          <a:xfrm>
            <a:off x="47350" y="2935775"/>
            <a:ext cx="3670200" cy="16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Se observa una tendencia general y es, </a:t>
            </a:r>
            <a:r>
              <a:rPr b="1" lang="es">
                <a:solidFill>
                  <a:schemeClr val="dk2"/>
                </a:solidFill>
              </a:rPr>
              <a:t>a mayor cantidad de segundos, menor cantidad de reacciones</a:t>
            </a:r>
            <a:r>
              <a:rPr lang="es"/>
              <a:t> a </a:t>
            </a:r>
            <a:r>
              <a:rPr b="1" lang="es">
                <a:solidFill>
                  <a:schemeClr val="dk2"/>
                </a:solidFill>
              </a:rPr>
              <a:t>excepción</a:t>
            </a:r>
            <a:r>
              <a:rPr lang="es"/>
              <a:t> de formatos de larga </a:t>
            </a:r>
            <a:r>
              <a:rPr lang="es"/>
              <a:t>duración</a:t>
            </a:r>
            <a:r>
              <a:rPr lang="es"/>
              <a:t> como los </a:t>
            </a:r>
            <a:r>
              <a:rPr b="1" lang="es">
                <a:solidFill>
                  <a:schemeClr val="dk2"/>
                </a:solidFill>
              </a:rPr>
              <a:t>en vivos</a:t>
            </a:r>
            <a:r>
              <a:rPr lang="es"/>
              <a:t>, que igualmente generan una cantidad significativa de reacciones</a:t>
            </a:r>
            <a:endParaRPr/>
          </a:p>
        </p:txBody>
      </p:sp>
      <p:pic>
        <p:nvPicPr>
          <p:cNvPr id="114" name="Google Shape;114;p16"/>
          <p:cNvPicPr preferRelativeResize="0"/>
          <p:nvPr/>
        </p:nvPicPr>
        <p:blipFill>
          <a:blip r:embed="rId4">
            <a:alphaModFix/>
          </a:blip>
          <a:stretch>
            <a:fillRect/>
          </a:stretch>
        </p:blipFill>
        <p:spPr>
          <a:xfrm>
            <a:off x="4843325" y="1145550"/>
            <a:ext cx="4296450" cy="3997950"/>
          </a:xfrm>
          <a:prstGeom prst="rect">
            <a:avLst/>
          </a:prstGeom>
          <a:noFill/>
          <a:ln>
            <a:noFill/>
          </a:ln>
        </p:spPr>
      </p:pic>
      <p:sp>
        <p:nvSpPr>
          <p:cNvPr id="115" name="Google Shape;115;p16"/>
          <p:cNvSpPr txBox="1"/>
          <p:nvPr>
            <p:ph type="title"/>
          </p:nvPr>
        </p:nvSpPr>
        <p:spPr>
          <a:xfrm>
            <a:off x="3614600" y="0"/>
            <a:ext cx="5834100" cy="79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140"/>
              <a:t>Reacciones en </a:t>
            </a:r>
            <a:r>
              <a:rPr lang="es" sz="2140"/>
              <a:t>relación</a:t>
            </a:r>
            <a:r>
              <a:rPr lang="es" sz="2140"/>
              <a:t> a la cantidad de segundos por contenido</a:t>
            </a:r>
            <a:r>
              <a:rPr lang="es" sz="2140"/>
              <a:t> del 2024-05-01(fecha inicial) al 2024-05-30</a:t>
            </a:r>
            <a:endParaRPr sz="214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7"/>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21" name="Google Shape;121;p17"/>
          <p:cNvSpPr txBox="1"/>
          <p:nvPr>
            <p:ph type="title"/>
          </p:nvPr>
        </p:nvSpPr>
        <p:spPr>
          <a:xfrm>
            <a:off x="3342000" y="141725"/>
            <a:ext cx="5802000" cy="81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Promedios de reacciones en todo el mes de mayo</a:t>
            </a:r>
            <a:endParaRPr/>
          </a:p>
        </p:txBody>
      </p:sp>
      <p:sp>
        <p:nvSpPr>
          <p:cNvPr id="122" name="Google Shape;122;p17"/>
          <p:cNvSpPr txBox="1"/>
          <p:nvPr>
            <p:ph idx="1" type="body"/>
          </p:nvPr>
        </p:nvSpPr>
        <p:spPr>
          <a:xfrm>
            <a:off x="109200" y="2808550"/>
            <a:ext cx="3232800" cy="207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a:t>
            </a:r>
            <a:r>
              <a:rPr lang="es"/>
              <a:t> gran </a:t>
            </a:r>
            <a:r>
              <a:rPr lang="es"/>
              <a:t>mayoría</a:t>
            </a:r>
            <a:r>
              <a:rPr lang="es"/>
              <a:t> de publicaciones se encuentran entre </a:t>
            </a:r>
            <a:r>
              <a:rPr b="1" lang="es">
                <a:solidFill>
                  <a:schemeClr val="dk2"/>
                </a:solidFill>
              </a:rPr>
              <a:t>36</a:t>
            </a:r>
            <a:r>
              <a:rPr lang="es"/>
              <a:t> y  </a:t>
            </a:r>
            <a:r>
              <a:rPr b="1" lang="es">
                <a:solidFill>
                  <a:schemeClr val="dk2"/>
                </a:solidFill>
              </a:rPr>
              <a:t>94</a:t>
            </a:r>
            <a:r>
              <a:rPr lang="es"/>
              <a:t> reacciones siendo </a:t>
            </a:r>
            <a:r>
              <a:rPr b="1" lang="es">
                <a:solidFill>
                  <a:schemeClr val="dk2"/>
                </a:solidFill>
              </a:rPr>
              <a:t>150</a:t>
            </a:r>
            <a:r>
              <a:rPr lang="es"/>
              <a:t> reacciones la cifra </a:t>
            </a:r>
            <a:r>
              <a:rPr lang="es"/>
              <a:t>más</a:t>
            </a:r>
            <a:r>
              <a:rPr lang="es"/>
              <a:t> alcanzada por varias publicaciones</a:t>
            </a:r>
            <a:endParaRPr b="1">
              <a:solidFill>
                <a:schemeClr val="dk2"/>
              </a:solidFill>
            </a:endParaRPr>
          </a:p>
          <a:p>
            <a:pPr indent="0" lvl="0" marL="0" rtl="0" algn="l">
              <a:spcBef>
                <a:spcPts val="1200"/>
              </a:spcBef>
              <a:spcAft>
                <a:spcPts val="1200"/>
              </a:spcAft>
              <a:buNone/>
            </a:pPr>
            <a:r>
              <a:t/>
            </a:r>
            <a:endParaRPr/>
          </a:p>
        </p:txBody>
      </p:sp>
      <p:pic>
        <p:nvPicPr>
          <p:cNvPr id="123" name="Google Shape;123;p17"/>
          <p:cNvPicPr preferRelativeResize="0"/>
          <p:nvPr/>
        </p:nvPicPr>
        <p:blipFill>
          <a:blip r:embed="rId4">
            <a:alphaModFix/>
          </a:blip>
          <a:stretch>
            <a:fillRect/>
          </a:stretch>
        </p:blipFill>
        <p:spPr>
          <a:xfrm>
            <a:off x="3670150" y="1272775"/>
            <a:ext cx="5469626" cy="3653150"/>
          </a:xfrm>
          <a:prstGeom prst="rect">
            <a:avLst/>
          </a:prstGeom>
          <a:noFill/>
          <a:ln>
            <a:noFill/>
          </a:ln>
        </p:spPr>
      </p:pic>
      <p:sp>
        <p:nvSpPr>
          <p:cNvPr id="124" name="Google Shape;124;p17"/>
          <p:cNvSpPr txBox="1"/>
          <p:nvPr/>
        </p:nvSpPr>
        <p:spPr>
          <a:xfrm>
            <a:off x="514200" y="1925250"/>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8"/>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30" name="Google Shape;130;p18"/>
          <p:cNvSpPr txBox="1"/>
          <p:nvPr>
            <p:ph type="title"/>
          </p:nvPr>
        </p:nvSpPr>
        <p:spPr>
          <a:xfrm>
            <a:off x="3342000" y="141725"/>
            <a:ext cx="5802000" cy="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Publicaciones</a:t>
            </a:r>
            <a:r>
              <a:rPr lang="es"/>
              <a:t> </a:t>
            </a:r>
            <a:r>
              <a:rPr lang="es"/>
              <a:t>más</a:t>
            </a:r>
            <a:r>
              <a:rPr lang="es"/>
              <a:t> exitosas</a:t>
            </a:r>
            <a:endParaRPr/>
          </a:p>
        </p:txBody>
      </p:sp>
      <p:sp>
        <p:nvSpPr>
          <p:cNvPr id="131" name="Google Shape;131;p18"/>
          <p:cNvSpPr txBox="1"/>
          <p:nvPr>
            <p:ph idx="1" type="body"/>
          </p:nvPr>
        </p:nvSpPr>
        <p:spPr>
          <a:xfrm>
            <a:off x="2181150" y="1154650"/>
            <a:ext cx="5586300" cy="41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100">
                <a:solidFill>
                  <a:srgbClr val="000000"/>
                </a:solidFill>
                <a:highlight>
                  <a:srgbClr val="FFFFFF"/>
                </a:highlight>
                <a:latin typeface="Arial"/>
                <a:ea typeface="Arial"/>
                <a:cs typeface="Arial"/>
                <a:sym typeface="Arial"/>
              </a:rPr>
              <a:t>Identificador de la publicación con mayor alcance: 1536046227338914</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rPr i="1" lang="es" sz="1100">
                <a:solidFill>
                  <a:schemeClr val="lt1"/>
                </a:solidFill>
                <a:highlight>
                  <a:srgbClr val="FF0000"/>
                </a:highlight>
                <a:latin typeface="Arial"/>
                <a:ea typeface="Arial"/>
                <a:cs typeface="Arial"/>
                <a:sym typeface="Arial"/>
              </a:rPr>
              <a:t>Descripción de la publicación con mayor alcance (ID: 1536046227338914 ):</a:t>
            </a:r>
            <a:r>
              <a:rPr b="1" i="1" lang="es" sz="1100">
                <a:solidFill>
                  <a:schemeClr val="lt1"/>
                </a:solidFill>
                <a:highlight>
                  <a:srgbClr val="FF0000"/>
                </a:highlight>
                <a:latin typeface="Arial"/>
                <a:ea typeface="Arial"/>
                <a:cs typeface="Arial"/>
                <a:sym typeface="Arial"/>
              </a:rPr>
              <a:t> </a:t>
            </a:r>
            <a:r>
              <a:rPr b="1" lang="es" sz="1100">
                <a:solidFill>
                  <a:srgbClr val="000000"/>
                </a:solidFill>
                <a:highlight>
                  <a:srgbClr val="FFFFFF"/>
                </a:highlight>
                <a:latin typeface="Arial"/>
                <a:ea typeface="Arial"/>
                <a:cs typeface="Arial"/>
                <a:sym typeface="Arial"/>
              </a:rPr>
              <a:t>ENCUENTROS CON EL ALCALDE✅💙</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rPr b="1" lang="es" sz="1100">
                <a:solidFill>
                  <a:srgbClr val="000000"/>
                </a:solidFill>
                <a:highlight>
                  <a:srgbClr val="FFFFFF"/>
                </a:highlight>
                <a:latin typeface="Arial"/>
                <a:ea typeface="Arial"/>
                <a:cs typeface="Arial"/>
                <a:sym typeface="Arial"/>
              </a:rPr>
              <a:t>Otro encuentro más con el alcalde realizando interacción con nuestra comunidad ¡Bienvenidos!</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rPr lang="es" sz="1100">
                <a:solidFill>
                  <a:srgbClr val="000000"/>
                </a:solidFill>
                <a:highlight>
                  <a:srgbClr val="FFFFFF"/>
                </a:highlight>
                <a:latin typeface="Arial"/>
                <a:ea typeface="Arial"/>
                <a:cs typeface="Arial"/>
                <a:sym typeface="Arial"/>
              </a:rPr>
              <a:t>Identificador de la segunda publicación con mayor alcance: 879258724241461</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rPr i="1" lang="es" sz="1100">
                <a:solidFill>
                  <a:schemeClr val="lt1"/>
                </a:solidFill>
                <a:highlight>
                  <a:srgbClr val="FF0000"/>
                </a:highlight>
                <a:latin typeface="Arial"/>
                <a:ea typeface="Arial"/>
                <a:cs typeface="Arial"/>
                <a:sym typeface="Arial"/>
              </a:rPr>
              <a:t>Descripción de la segunda publicación con mayor alcance:</a:t>
            </a:r>
            <a:r>
              <a:rPr lang="es" sz="1100">
                <a:solidFill>
                  <a:srgbClr val="000000"/>
                </a:solidFill>
                <a:highlight>
                  <a:srgbClr val="FFFFFF"/>
                </a:highlight>
                <a:latin typeface="Arial"/>
                <a:ea typeface="Arial"/>
                <a:cs typeface="Arial"/>
                <a:sym typeface="Arial"/>
              </a:rPr>
              <a:t> </a:t>
            </a:r>
            <a:r>
              <a:rPr b="1" lang="es" sz="1100">
                <a:solidFill>
                  <a:srgbClr val="000000"/>
                </a:solidFill>
                <a:highlight>
                  <a:srgbClr val="FFFFFF"/>
                </a:highlight>
                <a:latin typeface="Arial"/>
                <a:ea typeface="Arial"/>
                <a:cs typeface="Arial"/>
                <a:sym typeface="Arial"/>
              </a:rPr>
              <a:t>Tuluá es nuestro hogar, es el latido de esperanza que ha sido el motor de sueños y la cuna de promesas de muchos tulueños. Es un recordatorio constante de que, incluso en medio de la adversidad, la luz de la esperanza nunca se desvanece. Hoy son 199 años siendo el corazón que hace palpitar a nuestro Valle del Cauca. ¡Feliz día de la Municipalidad!❤️💚🤍#ParaSerFelices 💪💙</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132" name="Google Shape;132;p18"/>
          <p:cNvSpPr txBox="1"/>
          <p:nvPr/>
        </p:nvSpPr>
        <p:spPr>
          <a:xfrm>
            <a:off x="147150" y="2743125"/>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9"/>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38" name="Google Shape;138;p19"/>
          <p:cNvSpPr txBox="1"/>
          <p:nvPr>
            <p:ph type="title"/>
          </p:nvPr>
        </p:nvSpPr>
        <p:spPr>
          <a:xfrm>
            <a:off x="3342000" y="141725"/>
            <a:ext cx="5802000" cy="81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 de </a:t>
            </a:r>
            <a:r>
              <a:rPr lang="es"/>
              <a:t>publicación</a:t>
            </a:r>
            <a:r>
              <a:rPr lang="es"/>
              <a:t> </a:t>
            </a:r>
            <a:r>
              <a:rPr lang="es"/>
              <a:t>más</a:t>
            </a:r>
            <a:r>
              <a:rPr lang="es"/>
              <a:t> compartida</a:t>
            </a:r>
            <a:endParaRPr/>
          </a:p>
        </p:txBody>
      </p:sp>
      <p:pic>
        <p:nvPicPr>
          <p:cNvPr id="139" name="Google Shape;139;p19"/>
          <p:cNvPicPr preferRelativeResize="0"/>
          <p:nvPr/>
        </p:nvPicPr>
        <p:blipFill>
          <a:blip r:embed="rId4">
            <a:alphaModFix/>
          </a:blip>
          <a:stretch>
            <a:fillRect/>
          </a:stretch>
        </p:blipFill>
        <p:spPr>
          <a:xfrm>
            <a:off x="3245850" y="1091025"/>
            <a:ext cx="5893924" cy="3997950"/>
          </a:xfrm>
          <a:prstGeom prst="rect">
            <a:avLst/>
          </a:prstGeom>
          <a:noFill/>
          <a:ln>
            <a:noFill/>
          </a:ln>
        </p:spPr>
      </p:pic>
      <p:sp>
        <p:nvSpPr>
          <p:cNvPr id="140" name="Google Shape;140;p19"/>
          <p:cNvSpPr txBox="1"/>
          <p:nvPr>
            <p:ph idx="1" type="body"/>
          </p:nvPr>
        </p:nvSpPr>
        <p:spPr>
          <a:xfrm>
            <a:off x="47350" y="2136075"/>
            <a:ext cx="3198600" cy="2479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Se observa como la </a:t>
            </a:r>
            <a:r>
              <a:rPr lang="es"/>
              <a:t>mayoría</a:t>
            </a:r>
            <a:r>
              <a:rPr lang="es"/>
              <a:t> de publicaciones que alcanzan </a:t>
            </a:r>
            <a:r>
              <a:rPr lang="es"/>
              <a:t>más</a:t>
            </a:r>
            <a:r>
              <a:rPr lang="es"/>
              <a:t> compartidos son formatos de video o videos en vivo, incluso alcanzando las mayores cantidades de reacciones, sin embargo, </a:t>
            </a:r>
            <a:r>
              <a:rPr lang="es"/>
              <a:t>también</a:t>
            </a:r>
            <a:r>
              <a:rPr lang="es"/>
              <a:t> influye mucho el tema a tratar en estos formatos de larga </a:t>
            </a:r>
            <a:r>
              <a:rPr lang="es"/>
              <a:t>duración</a:t>
            </a:r>
            <a:r>
              <a:rPr lang="es"/>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0"/>
          <p:cNvPicPr preferRelativeResize="0"/>
          <p:nvPr/>
        </p:nvPicPr>
        <p:blipFill>
          <a:blip r:embed="rId3">
            <a:alphaModFix/>
          </a:blip>
          <a:stretch>
            <a:fillRect/>
          </a:stretch>
        </p:blipFill>
        <p:spPr>
          <a:xfrm>
            <a:off x="4229" y="0"/>
            <a:ext cx="9135542" cy="5143501"/>
          </a:xfrm>
          <a:prstGeom prst="rect">
            <a:avLst/>
          </a:prstGeom>
          <a:noFill/>
          <a:ln>
            <a:noFill/>
          </a:ln>
        </p:spPr>
      </p:pic>
      <p:sp>
        <p:nvSpPr>
          <p:cNvPr id="146" name="Google Shape;146;p20"/>
          <p:cNvSpPr txBox="1"/>
          <p:nvPr>
            <p:ph type="title"/>
          </p:nvPr>
        </p:nvSpPr>
        <p:spPr>
          <a:xfrm>
            <a:off x="3342000" y="141725"/>
            <a:ext cx="5802000" cy="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Publicaciones menos exitosas</a:t>
            </a:r>
            <a:endParaRPr/>
          </a:p>
        </p:txBody>
      </p:sp>
      <p:sp>
        <p:nvSpPr>
          <p:cNvPr id="147" name="Google Shape;147;p20"/>
          <p:cNvSpPr txBox="1"/>
          <p:nvPr>
            <p:ph idx="1" type="body"/>
          </p:nvPr>
        </p:nvSpPr>
        <p:spPr>
          <a:xfrm>
            <a:off x="2181150" y="1154650"/>
            <a:ext cx="5586300" cy="41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100">
                <a:solidFill>
                  <a:srgbClr val="000000"/>
                </a:solidFill>
                <a:highlight>
                  <a:srgbClr val="FFFFFF"/>
                </a:highlight>
                <a:latin typeface="Arial"/>
                <a:ea typeface="Arial"/>
                <a:cs typeface="Arial"/>
                <a:sym typeface="Arial"/>
              </a:rPr>
              <a:t>Identificador de la publicación con menor alcance: 878269901007010</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rPr i="1" lang="es" sz="1100">
                <a:solidFill>
                  <a:schemeClr val="lt1"/>
                </a:solidFill>
                <a:highlight>
                  <a:srgbClr val="FF0000"/>
                </a:highlight>
                <a:latin typeface="Arial"/>
                <a:ea typeface="Arial"/>
                <a:cs typeface="Arial"/>
                <a:sym typeface="Arial"/>
              </a:rPr>
              <a:t>Descripciones de las tres publicaciones con menor alcance:</a:t>
            </a:r>
            <a:endParaRPr i="1" sz="1100">
              <a:solidFill>
                <a:schemeClr val="lt1"/>
              </a:solidFill>
              <a:highlight>
                <a:srgbClr val="FF0000"/>
              </a:highlight>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s" sz="1100">
                <a:solidFill>
                  <a:srgbClr val="000000"/>
                </a:solidFill>
                <a:highlight>
                  <a:srgbClr val="FFFFFF"/>
                </a:highlight>
                <a:latin typeface="Arial"/>
                <a:ea typeface="Arial"/>
                <a:cs typeface="Arial"/>
                <a:sym typeface="Arial"/>
              </a:rPr>
              <a:t>nan</a:t>
            </a:r>
            <a:endParaRPr b="1" sz="1100">
              <a:solidFill>
                <a:srgbClr val="000000"/>
              </a:solidFill>
              <a:highlight>
                <a:srgbClr val="FFFFFF"/>
              </a:highlight>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s" sz="1100">
                <a:solidFill>
                  <a:srgbClr val="000000"/>
                </a:solidFill>
                <a:highlight>
                  <a:srgbClr val="FFFFFF"/>
                </a:highlight>
                <a:latin typeface="Arial"/>
                <a:ea typeface="Arial"/>
                <a:cs typeface="Arial"/>
                <a:sym typeface="Arial"/>
              </a:rPr>
              <a:t>¡Transformamos nuestro municipio desde la Educación!✅📚Por medio de las Secretarías de Educación, Salud, Bienestar Social, IMDER, y las entidades ICBF, Uceva y Policía de Infancia y Adolescencia creamos la estrategia "Alza la Voz" para llegar a cada Institución Educativa de nuestro municipio para la prevención de la violencia sexual y de género aplicada desde la niñez y adolescencia.  #ParaSerFelices</a:t>
            </a:r>
            <a:endParaRPr b="1" sz="1100">
              <a:solidFill>
                <a:srgbClr val="000000"/>
              </a:solidFill>
              <a:highlight>
                <a:srgbClr val="FFFFFF"/>
              </a:highlight>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s" sz="1100">
                <a:solidFill>
                  <a:srgbClr val="000000"/>
                </a:solidFill>
                <a:highlight>
                  <a:srgbClr val="FFFFFF"/>
                </a:highlight>
                <a:latin typeface="Arial"/>
                <a:ea typeface="Arial"/>
                <a:cs typeface="Arial"/>
                <a:sym typeface="Arial"/>
              </a:rPr>
              <a:t>nan</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b="1"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sz="1100">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148" name="Google Shape;148;p20"/>
          <p:cNvSpPr txBox="1"/>
          <p:nvPr/>
        </p:nvSpPr>
        <p:spPr>
          <a:xfrm>
            <a:off x="147150" y="2743125"/>
            <a:ext cx="203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 sz="900" u="none" cap="none" strike="noStrike">
                <a:solidFill>
                  <a:srgbClr val="000000"/>
                </a:solidFill>
                <a:latin typeface="Arial"/>
                <a:ea typeface="Arial"/>
                <a:cs typeface="Arial"/>
                <a:sym typeface="Arial"/>
              </a:rPr>
              <a:t>TOTAL REGISTROS EN EL PERÍODO 01 AL 31 DE MAYO: </a:t>
            </a:r>
            <a:r>
              <a:rPr b="1" lang="es" sz="900"/>
              <a:t>32</a:t>
            </a:r>
            <a:endParaRPr b="1" sz="12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