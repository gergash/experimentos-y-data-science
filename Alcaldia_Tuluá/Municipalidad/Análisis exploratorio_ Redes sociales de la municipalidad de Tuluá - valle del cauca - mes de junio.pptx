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4" roundtripDataSignature="AMtx7mj0rkDYi28D4SnR1vIVxwsOZTAR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slide" Target="slides/slide20.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1b9fb9d6d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21b9fb9d6db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1b9fb9d6d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21b9fb9d6db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1b9fb9d6d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21b9fb9d6db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1b9fb9d6d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1b9fb9d6db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1b9fb9d6d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21b9fb9d6db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1b9fb9d6db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21b9fb9d6db_0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1b9fb9d6db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21b9fb9d6db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1b9fb9d6db_0_2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1b9fb9d6db_0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1b9fb9d6db_0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21b9fb9d6db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1b9fb9d6db_0_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21b9fb9d6db_0_2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1b9fb9d6db_0_2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21b9fb9d6db_0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1b9fb9d6db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21b9fb9d6d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1b9fb9d6db_0_2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21b9fb9d6db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1b9fb9d6db_0_2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21b9fb9d6db_0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1b9fb9d6db_0_2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21b9fb9d6db_0_2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8"/>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8"/>
          <p:cNvGrpSpPr/>
          <p:nvPr/>
        </p:nvGrpSpPr>
        <p:grpSpPr>
          <a:xfrm>
            <a:off x="830392" y="1191256"/>
            <a:ext cx="745763" cy="45826"/>
            <a:chOff x="4580561" y="2589004"/>
            <a:chExt cx="1064464" cy="25200"/>
          </a:xfrm>
        </p:grpSpPr>
        <p:sp>
          <p:nvSpPr>
            <p:cNvPr id="12" name="Google Shape;12;p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8"/>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8"/>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9"/>
          <p:cNvGrpSpPr/>
          <p:nvPr/>
        </p:nvGrpSpPr>
        <p:grpSpPr>
          <a:xfrm>
            <a:off x="830392" y="1191256"/>
            <a:ext cx="745763" cy="45826"/>
            <a:chOff x="4580561" y="2589004"/>
            <a:chExt cx="1064464" cy="25200"/>
          </a:xfrm>
        </p:grpSpPr>
        <p:sp>
          <p:nvSpPr>
            <p:cNvPr id="20" name="Google Shape;20;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10"/>
          <p:cNvGrpSpPr/>
          <p:nvPr/>
        </p:nvGrpSpPr>
        <p:grpSpPr>
          <a:xfrm>
            <a:off x="830392" y="1191256"/>
            <a:ext cx="745763" cy="45826"/>
            <a:chOff x="4580561" y="2589004"/>
            <a:chExt cx="1064464" cy="25200"/>
          </a:xfrm>
        </p:grpSpPr>
        <p:sp>
          <p:nvSpPr>
            <p:cNvPr id="27" name="Google Shape;27;p1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1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1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11"/>
          <p:cNvGrpSpPr/>
          <p:nvPr/>
        </p:nvGrpSpPr>
        <p:grpSpPr>
          <a:xfrm>
            <a:off x="830392" y="1191256"/>
            <a:ext cx="745763" cy="45826"/>
            <a:chOff x="4580561" y="2589004"/>
            <a:chExt cx="1064464" cy="25200"/>
          </a:xfrm>
        </p:grpSpPr>
        <p:sp>
          <p:nvSpPr>
            <p:cNvPr id="34" name="Google Shape;34;p1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1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11"/>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11"/>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1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12"/>
          <p:cNvGrpSpPr/>
          <p:nvPr/>
        </p:nvGrpSpPr>
        <p:grpSpPr>
          <a:xfrm>
            <a:off x="830392" y="1191256"/>
            <a:ext cx="745763" cy="45826"/>
            <a:chOff x="4580561" y="2589004"/>
            <a:chExt cx="1064464" cy="25200"/>
          </a:xfrm>
        </p:grpSpPr>
        <p:sp>
          <p:nvSpPr>
            <p:cNvPr id="43" name="Google Shape;43;p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1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1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13"/>
          <p:cNvGrpSpPr/>
          <p:nvPr/>
        </p:nvGrpSpPr>
        <p:grpSpPr>
          <a:xfrm>
            <a:off x="830392" y="1191256"/>
            <a:ext cx="745763" cy="45826"/>
            <a:chOff x="4580561" y="2589004"/>
            <a:chExt cx="1064464" cy="25200"/>
          </a:xfrm>
        </p:grpSpPr>
        <p:sp>
          <p:nvSpPr>
            <p:cNvPr id="50" name="Google Shape;50;p1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13"/>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13"/>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14"/>
          <p:cNvGrpSpPr/>
          <p:nvPr/>
        </p:nvGrpSpPr>
        <p:grpSpPr>
          <a:xfrm>
            <a:off x="830392" y="4169130"/>
            <a:ext cx="745763" cy="45826"/>
            <a:chOff x="4580561" y="2589004"/>
            <a:chExt cx="1064464" cy="25200"/>
          </a:xfrm>
        </p:grpSpPr>
        <p:sp>
          <p:nvSpPr>
            <p:cNvPr id="57" name="Google Shape;57;p1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14"/>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15"/>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15"/>
          <p:cNvGrpSpPr/>
          <p:nvPr/>
        </p:nvGrpSpPr>
        <p:grpSpPr>
          <a:xfrm>
            <a:off x="830392" y="1191256"/>
            <a:ext cx="745763" cy="45826"/>
            <a:chOff x="4580561" y="2589004"/>
            <a:chExt cx="1064464" cy="25200"/>
          </a:xfrm>
        </p:grpSpPr>
        <p:sp>
          <p:nvSpPr>
            <p:cNvPr id="64" name="Google Shape;64;p1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15"/>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15"/>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15"/>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1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6"/>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7"/>
          <p:cNvGrpSpPr/>
          <p:nvPr/>
        </p:nvGrpSpPr>
        <p:grpSpPr>
          <a:xfrm>
            <a:off x="830392" y="4169130"/>
            <a:ext cx="745763" cy="45826"/>
            <a:chOff x="4580561" y="2589004"/>
            <a:chExt cx="1064464" cy="25200"/>
          </a:xfrm>
        </p:grpSpPr>
        <p:sp>
          <p:nvSpPr>
            <p:cNvPr id="75" name="Google Shape;75;p1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17"/>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7"/>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1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188600" y="1668975"/>
            <a:ext cx="8860200" cy="1318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200"/>
              <a:buNone/>
            </a:pPr>
            <a:r>
              <a:rPr lang="es" sz="2780"/>
              <a:t>Análisis exploratorio: Redes sociales de la municipalidad de Tuluá - valle del cauca - </a:t>
            </a:r>
            <a:r>
              <a:rPr lang="es" sz="2780">
                <a:solidFill>
                  <a:schemeClr val="accent3"/>
                </a:solidFill>
              </a:rPr>
              <a:t>mes de Junio</a:t>
            </a:r>
            <a:endParaRPr sz="2780">
              <a:solidFill>
                <a:schemeClr val="accent3"/>
              </a:solidFill>
            </a:endParaRPr>
          </a:p>
          <a:p>
            <a:pPr indent="0" lvl="0" marL="0" rtl="0" algn="l">
              <a:lnSpc>
                <a:spcPct val="100000"/>
              </a:lnSpc>
              <a:spcBef>
                <a:spcPts val="0"/>
              </a:spcBef>
              <a:spcAft>
                <a:spcPts val="0"/>
              </a:spcAft>
              <a:buSzPts val="4200"/>
              <a:buNone/>
            </a:pPr>
            <a:r>
              <a:t/>
            </a:r>
            <a:endParaRPr sz="2780"/>
          </a:p>
        </p:txBody>
      </p:sp>
      <p:pic>
        <p:nvPicPr>
          <p:cNvPr id="87" name="Google Shape;87;p1"/>
          <p:cNvPicPr preferRelativeResize="0"/>
          <p:nvPr/>
        </p:nvPicPr>
        <p:blipFill rotWithShape="1">
          <a:blip r:embed="rId3">
            <a:alphaModFix/>
          </a:blip>
          <a:srcRect b="0" l="0" r="0" t="0"/>
          <a:stretch/>
        </p:blipFill>
        <p:spPr>
          <a:xfrm>
            <a:off x="3552881" y="-59325"/>
            <a:ext cx="2041225" cy="2041250"/>
          </a:xfrm>
          <a:prstGeom prst="rect">
            <a:avLst/>
          </a:prstGeom>
          <a:noFill/>
          <a:ln>
            <a:noFill/>
          </a:ln>
        </p:spPr>
      </p:pic>
      <p:sp>
        <p:nvSpPr>
          <p:cNvPr id="88" name="Google Shape;88;p1"/>
          <p:cNvSpPr txBox="1"/>
          <p:nvPr/>
        </p:nvSpPr>
        <p:spPr>
          <a:xfrm>
            <a:off x="735833" y="4250175"/>
            <a:ext cx="2157300" cy="6381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160"/>
              <a:buFont typeface="Arial"/>
              <a:buNone/>
            </a:pPr>
            <a:r>
              <a:rPr b="0" i="0" lang="es" sz="1160" u="none" cap="none" strike="noStrike">
                <a:solidFill>
                  <a:srgbClr val="595959"/>
                </a:solidFill>
                <a:latin typeface="Lato"/>
                <a:ea typeface="Lato"/>
                <a:cs typeface="Lato"/>
                <a:sym typeface="Lato"/>
              </a:rPr>
              <a:t>-Geronimo Saldaña Espinal. Data Science</a:t>
            </a:r>
            <a:endParaRPr b="0" i="0" sz="1160" u="none" cap="none" strike="noStrike">
              <a:solidFill>
                <a:srgbClr val="595959"/>
              </a:solidFill>
              <a:latin typeface="Lato"/>
              <a:ea typeface="Lato"/>
              <a:cs typeface="Lato"/>
              <a:sym typeface="Lato"/>
            </a:endParaRPr>
          </a:p>
          <a:p>
            <a:pPr indent="0" lvl="0" marL="0" marR="0" rtl="0" algn="l">
              <a:lnSpc>
                <a:spcPct val="80000"/>
              </a:lnSpc>
              <a:spcBef>
                <a:spcPts val="0"/>
              </a:spcBef>
              <a:spcAft>
                <a:spcPts val="0"/>
              </a:spcAft>
              <a:buClr>
                <a:srgbClr val="000000"/>
              </a:buClr>
              <a:buSzPts val="1160"/>
              <a:buFont typeface="Arial"/>
              <a:buNone/>
            </a:pPr>
            <a:r>
              <a:rPr b="0" i="0" lang="es" sz="1160" u="none" cap="none" strike="noStrike">
                <a:solidFill>
                  <a:srgbClr val="595959"/>
                </a:solidFill>
                <a:latin typeface="Lato"/>
                <a:ea typeface="Lato"/>
                <a:cs typeface="Lato"/>
                <a:sym typeface="Lato"/>
              </a:rPr>
              <a:t>-</a:t>
            </a:r>
            <a:r>
              <a:rPr lang="es" sz="1160">
                <a:solidFill>
                  <a:srgbClr val="595959"/>
                </a:solidFill>
                <a:latin typeface="Lato"/>
                <a:ea typeface="Lato"/>
                <a:cs typeface="Lato"/>
                <a:sym typeface="Lato"/>
              </a:rPr>
              <a:t>15</a:t>
            </a:r>
            <a:r>
              <a:rPr b="0" i="0" lang="es" sz="1160" u="none" cap="none" strike="noStrike">
                <a:solidFill>
                  <a:srgbClr val="595959"/>
                </a:solidFill>
                <a:latin typeface="Lato"/>
                <a:ea typeface="Lato"/>
                <a:cs typeface="Lato"/>
                <a:sym typeface="Lato"/>
              </a:rPr>
              <a:t>/07/2024</a:t>
            </a:r>
            <a:endParaRPr b="0" i="0" sz="1160" u="none" cap="none" strike="noStrike">
              <a:solidFill>
                <a:srgbClr val="595959"/>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g21b9fb9d6db_0_3"/>
          <p:cNvPicPr preferRelativeResize="0"/>
          <p:nvPr/>
        </p:nvPicPr>
        <p:blipFill rotWithShape="1">
          <a:blip r:embed="rId3">
            <a:alphaModFix/>
          </a:blip>
          <a:srcRect b="0" l="0" r="0" t="0"/>
          <a:stretch/>
        </p:blipFill>
        <p:spPr>
          <a:xfrm>
            <a:off x="0" y="0"/>
            <a:ext cx="9135576" cy="5143501"/>
          </a:xfrm>
          <a:prstGeom prst="rect">
            <a:avLst/>
          </a:prstGeom>
          <a:noFill/>
          <a:ln>
            <a:noFill/>
          </a:ln>
        </p:spPr>
      </p:pic>
      <p:sp>
        <p:nvSpPr>
          <p:cNvPr id="94" name="Google Shape;94;g21b9fb9d6db_0_3"/>
          <p:cNvSpPr txBox="1"/>
          <p:nvPr>
            <p:ph type="title"/>
          </p:nvPr>
        </p:nvSpPr>
        <p:spPr>
          <a:xfrm>
            <a:off x="3985175" y="163875"/>
            <a:ext cx="49539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Horarios más efectivos facebook</a:t>
            </a:r>
            <a:endParaRPr/>
          </a:p>
        </p:txBody>
      </p:sp>
      <p:sp>
        <p:nvSpPr>
          <p:cNvPr id="95" name="Google Shape;95;g21b9fb9d6db_0_3"/>
          <p:cNvSpPr txBox="1"/>
          <p:nvPr>
            <p:ph idx="1" type="body"/>
          </p:nvPr>
        </p:nvSpPr>
        <p:spPr>
          <a:xfrm>
            <a:off x="202275" y="2005500"/>
            <a:ext cx="7688700" cy="313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Los horarios marcados en rojo son donde se genera mayor</a:t>
            </a:r>
            <a:endParaRPr/>
          </a:p>
          <a:p>
            <a:pPr indent="0" lvl="0" marL="0" rtl="0" algn="l">
              <a:lnSpc>
                <a:spcPct val="115000"/>
              </a:lnSpc>
              <a:spcBef>
                <a:spcPts val="1200"/>
              </a:spcBef>
              <a:spcAft>
                <a:spcPts val="0"/>
              </a:spcAft>
              <a:buSzPts val="1300"/>
              <a:buNone/>
            </a:pPr>
            <a:r>
              <a:rPr lang="es"/>
              <a:t>alcance en una publicación:</a:t>
            </a:r>
            <a:endParaRPr/>
          </a:p>
          <a:p>
            <a:pPr indent="0" lvl="0" marL="0" rtl="0" algn="l">
              <a:lnSpc>
                <a:spcPct val="115000"/>
              </a:lnSpc>
              <a:spcBef>
                <a:spcPts val="1200"/>
              </a:spcBef>
              <a:spcAft>
                <a:spcPts val="0"/>
              </a:spcAft>
              <a:buSzPts val="1300"/>
              <a:buNone/>
            </a:pPr>
            <a:r>
              <a:rPr b="1" lang="es">
                <a:solidFill>
                  <a:schemeClr val="dk2"/>
                </a:solidFill>
              </a:rPr>
              <a:t>- 12:06</a:t>
            </a:r>
            <a:endParaRPr b="1">
              <a:solidFill>
                <a:schemeClr val="dk2"/>
              </a:solidFill>
            </a:endParaRPr>
          </a:p>
          <a:p>
            <a:pPr indent="0" lvl="0" marL="0" rtl="0" algn="l">
              <a:lnSpc>
                <a:spcPct val="115000"/>
              </a:lnSpc>
              <a:spcBef>
                <a:spcPts val="1200"/>
              </a:spcBef>
              <a:spcAft>
                <a:spcPts val="0"/>
              </a:spcAft>
              <a:buSzPts val="1300"/>
              <a:buNone/>
            </a:pPr>
            <a:r>
              <a:rPr b="1" lang="es">
                <a:solidFill>
                  <a:schemeClr val="dk2"/>
                </a:solidFill>
              </a:rPr>
              <a:t>- 5:06</a:t>
            </a:r>
            <a:endParaRPr b="1">
              <a:solidFill>
                <a:schemeClr val="dk2"/>
              </a:solidFill>
            </a:endParaRPr>
          </a:p>
        </p:txBody>
      </p:sp>
      <p:pic>
        <p:nvPicPr>
          <p:cNvPr id="96" name="Google Shape;96;g21b9fb9d6db_0_3"/>
          <p:cNvPicPr preferRelativeResize="0"/>
          <p:nvPr/>
        </p:nvPicPr>
        <p:blipFill>
          <a:blip r:embed="rId4">
            <a:alphaModFix/>
          </a:blip>
          <a:stretch>
            <a:fillRect/>
          </a:stretch>
        </p:blipFill>
        <p:spPr>
          <a:xfrm>
            <a:off x="4613325" y="777000"/>
            <a:ext cx="4325750" cy="4052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
          <p:cNvPicPr preferRelativeResize="0"/>
          <p:nvPr/>
        </p:nvPicPr>
        <p:blipFill rotWithShape="1">
          <a:blip r:embed="rId3">
            <a:alphaModFix/>
          </a:blip>
          <a:srcRect b="0" l="0" r="0" t="0"/>
          <a:stretch/>
        </p:blipFill>
        <p:spPr>
          <a:xfrm>
            <a:off x="0" y="0"/>
            <a:ext cx="9135576" cy="5143501"/>
          </a:xfrm>
          <a:prstGeom prst="rect">
            <a:avLst/>
          </a:prstGeom>
          <a:noFill/>
          <a:ln>
            <a:noFill/>
          </a:ln>
        </p:spPr>
      </p:pic>
      <p:sp>
        <p:nvSpPr>
          <p:cNvPr id="102" name="Google Shape;102;p2"/>
          <p:cNvSpPr txBox="1"/>
          <p:nvPr>
            <p:ph type="title"/>
          </p:nvPr>
        </p:nvSpPr>
        <p:spPr>
          <a:xfrm>
            <a:off x="3803100" y="282225"/>
            <a:ext cx="49878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Horarios más efectivos instagram</a:t>
            </a:r>
            <a:endParaRPr/>
          </a:p>
        </p:txBody>
      </p:sp>
      <p:sp>
        <p:nvSpPr>
          <p:cNvPr id="103" name="Google Shape;103;p2"/>
          <p:cNvSpPr txBox="1"/>
          <p:nvPr>
            <p:ph idx="1" type="body"/>
          </p:nvPr>
        </p:nvSpPr>
        <p:spPr>
          <a:xfrm>
            <a:off x="202275" y="2005500"/>
            <a:ext cx="7688700" cy="313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Los horarios marcados en rojo son donde se genera mayor</a:t>
            </a:r>
            <a:endParaRPr/>
          </a:p>
          <a:p>
            <a:pPr indent="0" lvl="0" marL="0" rtl="0" algn="l">
              <a:lnSpc>
                <a:spcPct val="115000"/>
              </a:lnSpc>
              <a:spcBef>
                <a:spcPts val="1200"/>
              </a:spcBef>
              <a:spcAft>
                <a:spcPts val="0"/>
              </a:spcAft>
              <a:buSzPts val="1300"/>
              <a:buNone/>
            </a:pPr>
            <a:r>
              <a:rPr lang="es"/>
              <a:t>alcance en una publicación:</a:t>
            </a:r>
            <a:endParaRPr/>
          </a:p>
          <a:p>
            <a:pPr indent="0" lvl="0" marL="0" rtl="0" algn="l">
              <a:lnSpc>
                <a:spcPct val="115000"/>
              </a:lnSpc>
              <a:spcBef>
                <a:spcPts val="1200"/>
              </a:spcBef>
              <a:spcAft>
                <a:spcPts val="0"/>
              </a:spcAft>
              <a:buSzPts val="1300"/>
              <a:buNone/>
            </a:pPr>
            <a:r>
              <a:rPr b="1" lang="es">
                <a:solidFill>
                  <a:schemeClr val="dk2"/>
                </a:solidFill>
              </a:rPr>
              <a:t>- 7:06</a:t>
            </a:r>
            <a:endParaRPr b="1">
              <a:solidFill>
                <a:schemeClr val="dk2"/>
              </a:solidFill>
            </a:endParaRPr>
          </a:p>
          <a:p>
            <a:pPr indent="0" lvl="0" marL="0" rtl="0" algn="l">
              <a:lnSpc>
                <a:spcPct val="115000"/>
              </a:lnSpc>
              <a:spcBef>
                <a:spcPts val="1200"/>
              </a:spcBef>
              <a:spcAft>
                <a:spcPts val="0"/>
              </a:spcAft>
              <a:buSzPts val="1300"/>
              <a:buNone/>
            </a:pPr>
            <a:r>
              <a:rPr b="1" lang="es">
                <a:solidFill>
                  <a:schemeClr val="dk2"/>
                </a:solidFill>
              </a:rPr>
              <a:t>- 5:06</a:t>
            </a:r>
            <a:endParaRPr b="1">
              <a:solidFill>
                <a:schemeClr val="dk2"/>
              </a:solidFill>
            </a:endParaRPr>
          </a:p>
          <a:p>
            <a:pPr indent="0" lvl="0" marL="0" rtl="0" algn="l">
              <a:lnSpc>
                <a:spcPct val="115000"/>
              </a:lnSpc>
              <a:spcBef>
                <a:spcPts val="1200"/>
              </a:spcBef>
              <a:spcAft>
                <a:spcPts val="0"/>
              </a:spcAft>
              <a:buSzPts val="1300"/>
              <a:buNone/>
            </a:pPr>
            <a:r>
              <a:rPr b="1" lang="es">
                <a:solidFill>
                  <a:schemeClr val="dk2"/>
                </a:solidFill>
              </a:rPr>
              <a:t>-15:06</a:t>
            </a:r>
            <a:endParaRPr b="1">
              <a:solidFill>
                <a:schemeClr val="dk2"/>
              </a:solidFill>
            </a:endParaRPr>
          </a:p>
        </p:txBody>
      </p:sp>
      <p:pic>
        <p:nvPicPr>
          <p:cNvPr id="104" name="Google Shape;104;p2"/>
          <p:cNvPicPr preferRelativeResize="0"/>
          <p:nvPr/>
        </p:nvPicPr>
        <p:blipFill>
          <a:blip r:embed="rId4">
            <a:alphaModFix/>
          </a:blip>
          <a:stretch>
            <a:fillRect/>
          </a:stretch>
        </p:blipFill>
        <p:spPr>
          <a:xfrm>
            <a:off x="4572000" y="817425"/>
            <a:ext cx="4372105" cy="4014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21b9fb9d6db_0_117"/>
          <p:cNvPicPr preferRelativeResize="0"/>
          <p:nvPr/>
        </p:nvPicPr>
        <p:blipFill rotWithShape="1">
          <a:blip r:embed="rId3">
            <a:alphaModFix/>
          </a:blip>
          <a:srcRect b="0" l="0" r="0" t="0"/>
          <a:stretch/>
        </p:blipFill>
        <p:spPr>
          <a:xfrm>
            <a:off x="0" y="0"/>
            <a:ext cx="9135576" cy="5143501"/>
          </a:xfrm>
          <a:prstGeom prst="rect">
            <a:avLst/>
          </a:prstGeom>
          <a:noFill/>
          <a:ln>
            <a:noFill/>
          </a:ln>
        </p:spPr>
      </p:pic>
      <p:sp>
        <p:nvSpPr>
          <p:cNvPr id="110" name="Google Shape;110;g21b9fb9d6db_0_117"/>
          <p:cNvSpPr txBox="1"/>
          <p:nvPr>
            <p:ph type="title"/>
          </p:nvPr>
        </p:nvSpPr>
        <p:spPr>
          <a:xfrm>
            <a:off x="4106850" y="163700"/>
            <a:ext cx="47850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Matriz de correlación facebook</a:t>
            </a:r>
            <a:endParaRPr/>
          </a:p>
        </p:txBody>
      </p:sp>
      <p:sp>
        <p:nvSpPr>
          <p:cNvPr id="111" name="Google Shape;111;g21b9fb9d6db_0_117"/>
          <p:cNvSpPr txBox="1"/>
          <p:nvPr>
            <p:ph idx="1" type="body"/>
          </p:nvPr>
        </p:nvSpPr>
        <p:spPr>
          <a:xfrm>
            <a:off x="146675" y="2360675"/>
            <a:ext cx="7688700" cy="340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esta revela que las variables que </a:t>
            </a:r>
            <a:r>
              <a:rPr lang="es"/>
              <a:t>más</a:t>
            </a:r>
            <a:r>
              <a:rPr lang="es"/>
              <a:t> </a:t>
            </a:r>
            <a:endParaRPr/>
          </a:p>
          <a:p>
            <a:pPr indent="0" lvl="0" marL="0" rtl="0" algn="l">
              <a:lnSpc>
                <a:spcPct val="115000"/>
              </a:lnSpc>
              <a:spcBef>
                <a:spcPts val="1200"/>
              </a:spcBef>
              <a:spcAft>
                <a:spcPts val="0"/>
              </a:spcAft>
              <a:buSzPts val="1300"/>
              <a:buNone/>
            </a:pPr>
            <a:r>
              <a:rPr lang="es"/>
              <a:t>influyen dentro de las métricas generales </a:t>
            </a:r>
            <a:endParaRPr/>
          </a:p>
          <a:p>
            <a:pPr indent="0" lvl="0" marL="0" rtl="0" algn="l">
              <a:lnSpc>
                <a:spcPct val="115000"/>
              </a:lnSpc>
              <a:spcBef>
                <a:spcPts val="1200"/>
              </a:spcBef>
              <a:spcAft>
                <a:spcPts val="0"/>
              </a:spcAft>
              <a:buSzPts val="1300"/>
              <a:buNone/>
            </a:pPr>
            <a:r>
              <a:rPr lang="es"/>
              <a:t>de una publicación  son: </a:t>
            </a:r>
            <a:endParaRPr/>
          </a:p>
          <a:p>
            <a:pPr indent="-311150" lvl="0" marL="457200" rtl="0" algn="l">
              <a:lnSpc>
                <a:spcPct val="115000"/>
              </a:lnSpc>
              <a:spcBef>
                <a:spcPts val="1200"/>
              </a:spcBef>
              <a:spcAft>
                <a:spcPts val="0"/>
              </a:spcAft>
              <a:buClr>
                <a:schemeClr val="dk2"/>
              </a:buClr>
              <a:buSzPts val="1300"/>
              <a:buAutoNum type="arabicPeriod"/>
            </a:pPr>
            <a:r>
              <a:rPr b="1" i="1" lang="es">
                <a:solidFill>
                  <a:schemeClr val="dk2"/>
                </a:solidFill>
              </a:rPr>
              <a:t>Impresiones</a:t>
            </a:r>
            <a:endParaRPr b="1" i="1">
              <a:solidFill>
                <a:schemeClr val="dk2"/>
              </a:solidFill>
            </a:endParaRPr>
          </a:p>
          <a:p>
            <a:pPr indent="-311150" lvl="0" marL="457200" rtl="0" algn="l">
              <a:spcBef>
                <a:spcPts val="0"/>
              </a:spcBef>
              <a:spcAft>
                <a:spcPts val="0"/>
              </a:spcAft>
              <a:buClr>
                <a:schemeClr val="dk2"/>
              </a:buClr>
              <a:buSzPts val="1300"/>
              <a:buAutoNum type="arabicPeriod"/>
            </a:pPr>
            <a:r>
              <a:rPr b="1" i="1" lang="es">
                <a:solidFill>
                  <a:schemeClr val="dk2"/>
                </a:solidFill>
              </a:rPr>
              <a:t>Segundos reproducidos</a:t>
            </a:r>
            <a:endParaRPr b="1" i="1">
              <a:solidFill>
                <a:schemeClr val="dk2"/>
              </a:solidFill>
            </a:endParaRPr>
          </a:p>
          <a:p>
            <a:pPr indent="-311150" lvl="0" marL="457200" rtl="0" algn="l">
              <a:lnSpc>
                <a:spcPct val="115000"/>
              </a:lnSpc>
              <a:spcBef>
                <a:spcPts val="0"/>
              </a:spcBef>
              <a:spcAft>
                <a:spcPts val="0"/>
              </a:spcAft>
              <a:buClr>
                <a:schemeClr val="dk2"/>
              </a:buClr>
              <a:buSzPts val="1300"/>
              <a:buAutoNum type="arabicPeriod"/>
            </a:pPr>
            <a:r>
              <a:rPr b="1" i="1" lang="es">
                <a:solidFill>
                  <a:schemeClr val="dk2"/>
                </a:solidFill>
              </a:rPr>
              <a:t>Comentarios</a:t>
            </a:r>
            <a:endParaRPr b="1" i="1">
              <a:solidFill>
                <a:schemeClr val="dk2"/>
              </a:solidFill>
            </a:endParaRPr>
          </a:p>
        </p:txBody>
      </p:sp>
      <p:pic>
        <p:nvPicPr>
          <p:cNvPr id="112" name="Google Shape;112;g21b9fb9d6db_0_117"/>
          <p:cNvPicPr preferRelativeResize="0"/>
          <p:nvPr/>
        </p:nvPicPr>
        <p:blipFill>
          <a:blip r:embed="rId4">
            <a:alphaModFix/>
          </a:blip>
          <a:stretch>
            <a:fillRect/>
          </a:stretch>
        </p:blipFill>
        <p:spPr>
          <a:xfrm>
            <a:off x="3214675" y="920950"/>
            <a:ext cx="6038550" cy="3923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21b9fb9d6db_0_124"/>
          <p:cNvPicPr preferRelativeResize="0"/>
          <p:nvPr/>
        </p:nvPicPr>
        <p:blipFill rotWithShape="1">
          <a:blip r:embed="rId3">
            <a:alphaModFix/>
          </a:blip>
          <a:srcRect b="0" l="0" r="0" t="0"/>
          <a:stretch/>
        </p:blipFill>
        <p:spPr>
          <a:xfrm>
            <a:off x="0" y="0"/>
            <a:ext cx="9135576" cy="5143501"/>
          </a:xfrm>
          <a:prstGeom prst="rect">
            <a:avLst/>
          </a:prstGeom>
          <a:noFill/>
          <a:ln>
            <a:noFill/>
          </a:ln>
        </p:spPr>
      </p:pic>
      <p:sp>
        <p:nvSpPr>
          <p:cNvPr id="118" name="Google Shape;118;g21b9fb9d6db_0_124"/>
          <p:cNvSpPr txBox="1"/>
          <p:nvPr>
            <p:ph type="title"/>
          </p:nvPr>
        </p:nvSpPr>
        <p:spPr>
          <a:xfrm>
            <a:off x="4138775" y="154600"/>
            <a:ext cx="49968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Matriz de correlación instagram</a:t>
            </a:r>
            <a:endParaRPr/>
          </a:p>
        </p:txBody>
      </p:sp>
      <p:sp>
        <p:nvSpPr>
          <p:cNvPr id="119" name="Google Shape;119;g21b9fb9d6db_0_124"/>
          <p:cNvSpPr txBox="1"/>
          <p:nvPr>
            <p:ph idx="1" type="body"/>
          </p:nvPr>
        </p:nvSpPr>
        <p:spPr>
          <a:xfrm>
            <a:off x="137550" y="2351525"/>
            <a:ext cx="7688700" cy="340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esta revela que las variables que más </a:t>
            </a:r>
            <a:endParaRPr/>
          </a:p>
          <a:p>
            <a:pPr indent="0" lvl="0" marL="0" rtl="0" algn="l">
              <a:lnSpc>
                <a:spcPct val="115000"/>
              </a:lnSpc>
              <a:spcBef>
                <a:spcPts val="1200"/>
              </a:spcBef>
              <a:spcAft>
                <a:spcPts val="0"/>
              </a:spcAft>
              <a:buSzPts val="1300"/>
              <a:buNone/>
            </a:pPr>
            <a:r>
              <a:rPr lang="es"/>
              <a:t>influyen dentro de las métricas generales </a:t>
            </a:r>
            <a:endParaRPr/>
          </a:p>
          <a:p>
            <a:pPr indent="0" lvl="0" marL="0" rtl="0" algn="l">
              <a:lnSpc>
                <a:spcPct val="115000"/>
              </a:lnSpc>
              <a:spcBef>
                <a:spcPts val="1200"/>
              </a:spcBef>
              <a:spcAft>
                <a:spcPts val="0"/>
              </a:spcAft>
              <a:buSzPts val="1300"/>
              <a:buNone/>
            </a:pPr>
            <a:r>
              <a:rPr lang="es"/>
              <a:t>de una publicación  son: </a:t>
            </a:r>
            <a:endParaRPr/>
          </a:p>
          <a:p>
            <a:pPr indent="-311150" lvl="0" marL="457200" rtl="0" algn="l">
              <a:lnSpc>
                <a:spcPct val="115000"/>
              </a:lnSpc>
              <a:spcBef>
                <a:spcPts val="1200"/>
              </a:spcBef>
              <a:spcAft>
                <a:spcPts val="0"/>
              </a:spcAft>
              <a:buClr>
                <a:schemeClr val="dk2"/>
              </a:buClr>
              <a:buSzPts val="1300"/>
              <a:buAutoNum type="arabicPeriod"/>
            </a:pPr>
            <a:r>
              <a:rPr b="1" i="1" lang="es">
                <a:solidFill>
                  <a:schemeClr val="dk2"/>
                </a:solidFill>
              </a:rPr>
              <a:t>Alcance</a:t>
            </a:r>
            <a:endParaRPr b="1" i="1">
              <a:solidFill>
                <a:schemeClr val="dk2"/>
              </a:solidFill>
            </a:endParaRPr>
          </a:p>
          <a:p>
            <a:pPr indent="-311150" lvl="0" marL="457200" rtl="0" algn="l">
              <a:lnSpc>
                <a:spcPct val="115000"/>
              </a:lnSpc>
              <a:spcBef>
                <a:spcPts val="0"/>
              </a:spcBef>
              <a:spcAft>
                <a:spcPts val="0"/>
              </a:spcAft>
              <a:buClr>
                <a:schemeClr val="dk2"/>
              </a:buClr>
              <a:buSzPts val="1300"/>
              <a:buAutoNum type="arabicPeriod"/>
            </a:pPr>
            <a:r>
              <a:rPr b="1" i="1" lang="es">
                <a:solidFill>
                  <a:schemeClr val="dk2"/>
                </a:solidFill>
              </a:rPr>
              <a:t>Reproducciones</a:t>
            </a:r>
            <a:endParaRPr b="1" i="1">
              <a:solidFill>
                <a:schemeClr val="dk2"/>
              </a:solidFill>
            </a:endParaRPr>
          </a:p>
          <a:p>
            <a:pPr indent="-311150" lvl="0" marL="457200" rtl="0" algn="l">
              <a:lnSpc>
                <a:spcPct val="115000"/>
              </a:lnSpc>
              <a:spcBef>
                <a:spcPts val="0"/>
              </a:spcBef>
              <a:spcAft>
                <a:spcPts val="0"/>
              </a:spcAft>
              <a:buClr>
                <a:schemeClr val="dk2"/>
              </a:buClr>
              <a:buSzPts val="1300"/>
              <a:buAutoNum type="arabicPeriod"/>
            </a:pPr>
            <a:r>
              <a:rPr b="1" i="1" lang="es">
                <a:solidFill>
                  <a:schemeClr val="dk2"/>
                </a:solidFill>
              </a:rPr>
              <a:t>Impresiones</a:t>
            </a:r>
            <a:endParaRPr b="1" i="1">
              <a:solidFill>
                <a:schemeClr val="dk2"/>
              </a:solidFill>
            </a:endParaRPr>
          </a:p>
        </p:txBody>
      </p:sp>
      <p:pic>
        <p:nvPicPr>
          <p:cNvPr id="120" name="Google Shape;120;g21b9fb9d6db_0_124"/>
          <p:cNvPicPr preferRelativeResize="0"/>
          <p:nvPr/>
        </p:nvPicPr>
        <p:blipFill>
          <a:blip r:embed="rId4">
            <a:alphaModFix/>
          </a:blip>
          <a:stretch>
            <a:fillRect/>
          </a:stretch>
        </p:blipFill>
        <p:spPr>
          <a:xfrm>
            <a:off x="3268325" y="1045488"/>
            <a:ext cx="5867251" cy="3052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3"/>
          <p:cNvPicPr preferRelativeResize="0"/>
          <p:nvPr/>
        </p:nvPicPr>
        <p:blipFill rotWithShape="1">
          <a:blip r:embed="rId3">
            <a:alphaModFix/>
          </a:blip>
          <a:srcRect b="0" l="0" r="0" t="0"/>
          <a:stretch/>
        </p:blipFill>
        <p:spPr>
          <a:xfrm>
            <a:off x="0" y="0"/>
            <a:ext cx="9135576" cy="5143501"/>
          </a:xfrm>
          <a:prstGeom prst="rect">
            <a:avLst/>
          </a:prstGeom>
          <a:noFill/>
          <a:ln>
            <a:noFill/>
          </a:ln>
        </p:spPr>
      </p:pic>
      <p:sp>
        <p:nvSpPr>
          <p:cNvPr id="126" name="Google Shape;126;p3"/>
          <p:cNvSpPr txBox="1"/>
          <p:nvPr>
            <p:ph type="title"/>
          </p:nvPr>
        </p:nvSpPr>
        <p:spPr>
          <a:xfrm>
            <a:off x="764700" y="1611300"/>
            <a:ext cx="45720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Días con mayor alcance facebook</a:t>
            </a:r>
            <a:endParaRPr/>
          </a:p>
        </p:txBody>
      </p:sp>
      <p:sp>
        <p:nvSpPr>
          <p:cNvPr id="127" name="Google Shape;127;p3"/>
          <p:cNvSpPr txBox="1"/>
          <p:nvPr>
            <p:ph idx="1" type="body"/>
          </p:nvPr>
        </p:nvSpPr>
        <p:spPr>
          <a:xfrm>
            <a:off x="4896386" y="573474"/>
            <a:ext cx="4360200" cy="1262700"/>
          </a:xfrm>
          <a:prstGeom prst="rect">
            <a:avLst/>
          </a:prstGeom>
          <a:noFill/>
          <a:ln>
            <a:noFill/>
          </a:ln>
        </p:spPr>
        <p:txBody>
          <a:bodyPr anchorCtr="0" anchor="t" bIns="91425" lIns="91425" spcFirstLastPara="1" rIns="91425" wrap="square" tIns="91425">
            <a:normAutofit fontScale="55000"/>
          </a:bodyPr>
          <a:lstStyle/>
          <a:p>
            <a:pPr indent="0" lvl="0" marL="0" rtl="0" algn="l">
              <a:lnSpc>
                <a:spcPct val="115000"/>
              </a:lnSpc>
              <a:spcBef>
                <a:spcPts val="0"/>
              </a:spcBef>
              <a:spcAft>
                <a:spcPts val="0"/>
              </a:spcAft>
              <a:buSzPct val="181818"/>
              <a:buNone/>
            </a:pPr>
            <a:r>
              <a:rPr lang="es"/>
              <a:t>Un boxplot es una forma de mostrar la distribución de datos de manera simple y visual. Consiste en un rectángulo (la caja) que representa el rango central de los datos (50% de los datos), con una línea en medio que indica la mediana (valor medio). Los "bigotes" que se extienden desde la caja muestran la dispersión de los datos hacia los valores extremos. Puedes usar un boxplot para entender cómo se distribuyen tus datos y detectar valores inusuales fácilmente. Es una herramienta útil para resumir y comparar datos sin complicaciones técnicas.</a:t>
            </a:r>
            <a:endParaRPr/>
          </a:p>
          <a:p>
            <a:pPr indent="0" lvl="0" marL="0" rtl="0" algn="l">
              <a:lnSpc>
                <a:spcPct val="115000"/>
              </a:lnSpc>
              <a:spcBef>
                <a:spcPts val="1200"/>
              </a:spcBef>
              <a:spcAft>
                <a:spcPts val="1200"/>
              </a:spcAft>
              <a:buSzPct val="181818"/>
              <a:buNone/>
            </a:pPr>
            <a:r>
              <a:t/>
            </a:r>
            <a:endParaRPr/>
          </a:p>
        </p:txBody>
      </p:sp>
      <p:sp>
        <p:nvSpPr>
          <p:cNvPr id="128" name="Google Shape;128;p3"/>
          <p:cNvSpPr txBox="1"/>
          <p:nvPr>
            <p:ph idx="1" type="body"/>
          </p:nvPr>
        </p:nvSpPr>
        <p:spPr>
          <a:xfrm>
            <a:off x="302150" y="2735600"/>
            <a:ext cx="7688700" cy="334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Gracias al box-plot, podemos determinar cuales fueron </a:t>
            </a:r>
            <a:endParaRPr/>
          </a:p>
          <a:p>
            <a:pPr indent="0" lvl="0" marL="0" rtl="0" algn="l">
              <a:lnSpc>
                <a:spcPct val="115000"/>
              </a:lnSpc>
              <a:spcBef>
                <a:spcPts val="1200"/>
              </a:spcBef>
              <a:spcAft>
                <a:spcPts val="0"/>
              </a:spcAft>
              <a:buSzPts val="1300"/>
              <a:buNone/>
            </a:pPr>
            <a:r>
              <a:rPr lang="es"/>
              <a:t>los Días en los que se generó mayor alcance</a:t>
            </a:r>
            <a:endParaRPr/>
          </a:p>
          <a:p>
            <a:pPr indent="0" lvl="0" marL="0" rtl="0" algn="l">
              <a:lnSpc>
                <a:spcPct val="115000"/>
              </a:lnSpc>
              <a:spcBef>
                <a:spcPts val="1200"/>
              </a:spcBef>
              <a:spcAft>
                <a:spcPts val="0"/>
              </a:spcAft>
              <a:buSzPts val="1300"/>
              <a:buNone/>
            </a:pPr>
            <a:r>
              <a:rPr b="1" lang="es">
                <a:solidFill>
                  <a:schemeClr val="dk2"/>
                </a:solidFill>
              </a:rPr>
              <a:t>-Viernes</a:t>
            </a:r>
            <a:endParaRPr b="1">
              <a:solidFill>
                <a:schemeClr val="dk2"/>
              </a:solidFill>
            </a:endParaRPr>
          </a:p>
          <a:p>
            <a:pPr indent="0" lvl="0" marL="0" rtl="0" algn="l">
              <a:lnSpc>
                <a:spcPct val="115000"/>
              </a:lnSpc>
              <a:spcBef>
                <a:spcPts val="1200"/>
              </a:spcBef>
              <a:spcAft>
                <a:spcPts val="0"/>
              </a:spcAft>
              <a:buSzPts val="1300"/>
              <a:buNone/>
            </a:pPr>
            <a:r>
              <a:rPr b="1" lang="es">
                <a:solidFill>
                  <a:schemeClr val="dk2"/>
                </a:solidFill>
              </a:rPr>
              <a:t>-</a:t>
            </a:r>
            <a:r>
              <a:rPr b="1" lang="es">
                <a:solidFill>
                  <a:schemeClr val="dk2"/>
                </a:solidFill>
              </a:rPr>
              <a:t>Sábado</a:t>
            </a:r>
            <a:endParaRPr b="1">
              <a:solidFill>
                <a:schemeClr val="dk2"/>
              </a:solidFill>
            </a:endParaRPr>
          </a:p>
        </p:txBody>
      </p:sp>
      <p:pic>
        <p:nvPicPr>
          <p:cNvPr id="129" name="Google Shape;129;p3"/>
          <p:cNvPicPr preferRelativeResize="0"/>
          <p:nvPr/>
        </p:nvPicPr>
        <p:blipFill>
          <a:blip r:embed="rId4">
            <a:alphaModFix/>
          </a:blip>
          <a:stretch>
            <a:fillRect/>
          </a:stretch>
        </p:blipFill>
        <p:spPr>
          <a:xfrm>
            <a:off x="4939050" y="1493525"/>
            <a:ext cx="4111026" cy="3649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g21b9fb9d6db_0_13"/>
          <p:cNvPicPr preferRelativeResize="0"/>
          <p:nvPr/>
        </p:nvPicPr>
        <p:blipFill rotWithShape="1">
          <a:blip r:embed="rId3">
            <a:alphaModFix/>
          </a:blip>
          <a:srcRect b="0" l="0" r="0" t="0"/>
          <a:stretch/>
        </p:blipFill>
        <p:spPr>
          <a:xfrm>
            <a:off x="0" y="0"/>
            <a:ext cx="9135576" cy="5143501"/>
          </a:xfrm>
          <a:prstGeom prst="rect">
            <a:avLst/>
          </a:prstGeom>
          <a:noFill/>
          <a:ln>
            <a:noFill/>
          </a:ln>
        </p:spPr>
      </p:pic>
      <p:sp>
        <p:nvSpPr>
          <p:cNvPr id="135" name="Google Shape;135;g21b9fb9d6db_0_13"/>
          <p:cNvSpPr txBox="1"/>
          <p:nvPr>
            <p:ph type="title"/>
          </p:nvPr>
        </p:nvSpPr>
        <p:spPr>
          <a:xfrm>
            <a:off x="748250" y="1620400"/>
            <a:ext cx="4886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Días con mayor alcance instagram</a:t>
            </a:r>
            <a:endParaRPr/>
          </a:p>
        </p:txBody>
      </p:sp>
      <p:sp>
        <p:nvSpPr>
          <p:cNvPr id="136" name="Google Shape;136;g21b9fb9d6db_0_13"/>
          <p:cNvSpPr txBox="1"/>
          <p:nvPr>
            <p:ph idx="1" type="body"/>
          </p:nvPr>
        </p:nvSpPr>
        <p:spPr>
          <a:xfrm>
            <a:off x="4976275" y="573475"/>
            <a:ext cx="4149600" cy="1262700"/>
          </a:xfrm>
          <a:prstGeom prst="rect">
            <a:avLst/>
          </a:prstGeom>
          <a:noFill/>
          <a:ln>
            <a:noFill/>
          </a:ln>
        </p:spPr>
        <p:txBody>
          <a:bodyPr anchorCtr="0" anchor="t" bIns="91425" lIns="91425" spcFirstLastPara="1" rIns="91425" wrap="square" tIns="91425">
            <a:normAutofit fontScale="55000"/>
          </a:bodyPr>
          <a:lstStyle/>
          <a:p>
            <a:pPr indent="0" lvl="0" marL="0" rtl="0" algn="l">
              <a:lnSpc>
                <a:spcPct val="115000"/>
              </a:lnSpc>
              <a:spcBef>
                <a:spcPts val="0"/>
              </a:spcBef>
              <a:spcAft>
                <a:spcPts val="0"/>
              </a:spcAft>
              <a:buSzPct val="181818"/>
              <a:buNone/>
            </a:pPr>
            <a:r>
              <a:rPr lang="es"/>
              <a:t>Un boxplot es una forma de mostrar la distribución de datos de manera simple y visual. Consiste en un rectángulo (la caja) que representa el rango central de los datos (50% de los datos), con una línea en medio que indica la mediana (valor medio). Los "bigotes" que se extienden desde la caja muestran la dispersión de los datos hacia los valores extremos. Puedes usar un boxplot para entender cómo se distribuyen tus datos y detectar valores inusuales fácilmente. Es una herramienta útil para resumir y comparar datos sin complicaciones técnicas.</a:t>
            </a:r>
            <a:endParaRPr/>
          </a:p>
          <a:p>
            <a:pPr indent="0" lvl="0" marL="0" rtl="0" algn="l">
              <a:lnSpc>
                <a:spcPct val="115000"/>
              </a:lnSpc>
              <a:spcBef>
                <a:spcPts val="1200"/>
              </a:spcBef>
              <a:spcAft>
                <a:spcPts val="1200"/>
              </a:spcAft>
              <a:buSzPct val="181818"/>
              <a:buNone/>
            </a:pPr>
            <a:r>
              <a:t/>
            </a:r>
            <a:endParaRPr/>
          </a:p>
        </p:txBody>
      </p:sp>
      <p:sp>
        <p:nvSpPr>
          <p:cNvPr id="137" name="Google Shape;137;g21b9fb9d6db_0_13"/>
          <p:cNvSpPr txBox="1"/>
          <p:nvPr>
            <p:ph idx="1" type="body"/>
          </p:nvPr>
        </p:nvSpPr>
        <p:spPr>
          <a:xfrm>
            <a:off x="402300" y="2974050"/>
            <a:ext cx="7688700" cy="334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Gracias al box-plot, podemos determinar cuales fueron </a:t>
            </a:r>
            <a:endParaRPr/>
          </a:p>
          <a:p>
            <a:pPr indent="0" lvl="0" marL="0" rtl="0" algn="l">
              <a:lnSpc>
                <a:spcPct val="115000"/>
              </a:lnSpc>
              <a:spcBef>
                <a:spcPts val="1200"/>
              </a:spcBef>
              <a:spcAft>
                <a:spcPts val="0"/>
              </a:spcAft>
              <a:buSzPts val="1300"/>
              <a:buNone/>
            </a:pPr>
            <a:r>
              <a:rPr lang="es"/>
              <a:t>los Días en los que se generó mayor alcance</a:t>
            </a:r>
            <a:endParaRPr b="1">
              <a:solidFill>
                <a:schemeClr val="dk2"/>
              </a:solidFill>
            </a:endParaRPr>
          </a:p>
          <a:p>
            <a:pPr indent="0" lvl="0" marL="0" rtl="0" algn="l">
              <a:lnSpc>
                <a:spcPct val="115000"/>
              </a:lnSpc>
              <a:spcBef>
                <a:spcPts val="1200"/>
              </a:spcBef>
              <a:spcAft>
                <a:spcPts val="0"/>
              </a:spcAft>
              <a:buSzPts val="1300"/>
              <a:buNone/>
            </a:pPr>
            <a:r>
              <a:rPr b="1" lang="es">
                <a:solidFill>
                  <a:schemeClr val="dk2"/>
                </a:solidFill>
              </a:rPr>
              <a:t>-</a:t>
            </a:r>
            <a:r>
              <a:rPr b="1" lang="es">
                <a:solidFill>
                  <a:schemeClr val="dk2"/>
                </a:solidFill>
              </a:rPr>
              <a:t>Sábado</a:t>
            </a:r>
            <a:endParaRPr b="1">
              <a:solidFill>
                <a:schemeClr val="dk2"/>
              </a:solidFill>
            </a:endParaRPr>
          </a:p>
          <a:p>
            <a:pPr indent="0" lvl="0" marL="0" rtl="0" algn="l">
              <a:lnSpc>
                <a:spcPct val="115000"/>
              </a:lnSpc>
              <a:spcBef>
                <a:spcPts val="1200"/>
              </a:spcBef>
              <a:spcAft>
                <a:spcPts val="0"/>
              </a:spcAft>
              <a:buSzPts val="1300"/>
              <a:buNone/>
            </a:pPr>
            <a:r>
              <a:rPr b="1" lang="es">
                <a:solidFill>
                  <a:schemeClr val="dk2"/>
                </a:solidFill>
              </a:rPr>
              <a:t>-Viernes</a:t>
            </a:r>
            <a:endParaRPr b="1">
              <a:solidFill>
                <a:schemeClr val="dk2"/>
              </a:solidFill>
            </a:endParaRPr>
          </a:p>
        </p:txBody>
      </p:sp>
      <p:pic>
        <p:nvPicPr>
          <p:cNvPr id="138" name="Google Shape;138;g21b9fb9d6db_0_13"/>
          <p:cNvPicPr preferRelativeResize="0"/>
          <p:nvPr/>
        </p:nvPicPr>
        <p:blipFill>
          <a:blip r:embed="rId4">
            <a:alphaModFix/>
          </a:blip>
          <a:stretch>
            <a:fillRect/>
          </a:stretch>
        </p:blipFill>
        <p:spPr>
          <a:xfrm>
            <a:off x="4976275" y="1491200"/>
            <a:ext cx="4011799" cy="3561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4"/>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144" name="Google Shape;144;p4"/>
          <p:cNvSpPr txBox="1"/>
          <p:nvPr>
            <p:ph type="title"/>
          </p:nvPr>
        </p:nvSpPr>
        <p:spPr>
          <a:xfrm>
            <a:off x="3009750" y="346250"/>
            <a:ext cx="6129900" cy="755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Segundos con mayor número de, reacciones, comentarios, reproducciones en facebook</a:t>
            </a:r>
            <a:endParaRPr/>
          </a:p>
        </p:txBody>
      </p:sp>
      <p:sp>
        <p:nvSpPr>
          <p:cNvPr id="145" name="Google Shape;145;p4"/>
          <p:cNvSpPr txBox="1"/>
          <p:nvPr>
            <p:ph idx="1" type="body"/>
          </p:nvPr>
        </p:nvSpPr>
        <p:spPr>
          <a:xfrm>
            <a:off x="484100" y="2521113"/>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Se ha encontrado que las publicaciones </a:t>
            </a:r>
            <a:r>
              <a:rPr lang="es"/>
              <a:t>audiovisuales</a:t>
            </a:r>
            <a:r>
              <a:rPr lang="es"/>
              <a:t> con </a:t>
            </a:r>
            <a:endParaRPr/>
          </a:p>
          <a:p>
            <a:pPr indent="0" lvl="0" marL="0" rtl="0" algn="l">
              <a:lnSpc>
                <a:spcPct val="115000"/>
              </a:lnSpc>
              <a:spcBef>
                <a:spcPts val="1200"/>
              </a:spcBef>
              <a:spcAft>
                <a:spcPts val="0"/>
              </a:spcAft>
              <a:buSzPts val="1300"/>
              <a:buNone/>
            </a:pPr>
            <a:r>
              <a:rPr lang="es"/>
              <a:t>una duración entre</a:t>
            </a:r>
            <a:r>
              <a:rPr lang="es"/>
              <a:t> </a:t>
            </a:r>
            <a:r>
              <a:rPr b="1" lang="es">
                <a:solidFill>
                  <a:schemeClr val="dk2"/>
                </a:solidFill>
              </a:rPr>
              <a:t>15</a:t>
            </a:r>
            <a:r>
              <a:rPr b="1" lang="es">
                <a:solidFill>
                  <a:schemeClr val="dk2"/>
                </a:solidFill>
              </a:rPr>
              <a:t> y 150</a:t>
            </a:r>
            <a:r>
              <a:rPr lang="es"/>
              <a:t> segundos son las más propicias a </a:t>
            </a:r>
            <a:endParaRPr/>
          </a:p>
          <a:p>
            <a:pPr indent="0" lvl="0" marL="0" rtl="0" algn="l">
              <a:lnSpc>
                <a:spcPct val="115000"/>
              </a:lnSpc>
              <a:spcBef>
                <a:spcPts val="1200"/>
              </a:spcBef>
              <a:spcAft>
                <a:spcPts val="0"/>
              </a:spcAft>
              <a:buSzPts val="1300"/>
              <a:buNone/>
            </a:pPr>
            <a:r>
              <a:rPr lang="es"/>
              <a:t>generar más interacción </a:t>
            </a:r>
            <a:endParaRPr/>
          </a:p>
          <a:p>
            <a:pPr indent="0" lvl="0" marL="0" rtl="0" algn="l">
              <a:lnSpc>
                <a:spcPct val="115000"/>
              </a:lnSpc>
              <a:spcBef>
                <a:spcPts val="1200"/>
              </a:spcBef>
              <a:spcAft>
                <a:spcPts val="1200"/>
              </a:spcAft>
              <a:buSzPts val="1300"/>
              <a:buNone/>
            </a:pPr>
            <a:r>
              <a:rPr lang="es"/>
              <a:t> </a:t>
            </a:r>
            <a:endParaRPr/>
          </a:p>
        </p:txBody>
      </p:sp>
      <p:pic>
        <p:nvPicPr>
          <p:cNvPr id="146" name="Google Shape;146;p4"/>
          <p:cNvPicPr preferRelativeResize="0"/>
          <p:nvPr/>
        </p:nvPicPr>
        <p:blipFill>
          <a:blip r:embed="rId4">
            <a:alphaModFix/>
          </a:blip>
          <a:stretch>
            <a:fillRect/>
          </a:stretch>
        </p:blipFill>
        <p:spPr>
          <a:xfrm>
            <a:off x="5151548" y="1284150"/>
            <a:ext cx="3842025" cy="3632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g21b9fb9d6db_0_24"/>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152" name="Google Shape;152;g21b9fb9d6db_0_24"/>
          <p:cNvSpPr txBox="1"/>
          <p:nvPr>
            <p:ph type="title"/>
          </p:nvPr>
        </p:nvSpPr>
        <p:spPr>
          <a:xfrm>
            <a:off x="3394950" y="182375"/>
            <a:ext cx="60249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Segundos con mayor número de, Me gustas, r</a:t>
            </a:r>
            <a:r>
              <a:rPr lang="es"/>
              <a:t>eproducciones en instagram</a:t>
            </a:r>
            <a:endParaRPr/>
          </a:p>
        </p:txBody>
      </p:sp>
      <p:sp>
        <p:nvSpPr>
          <p:cNvPr id="153" name="Google Shape;153;g21b9fb9d6db_0_24"/>
          <p:cNvSpPr txBox="1"/>
          <p:nvPr>
            <p:ph idx="1" type="body"/>
          </p:nvPr>
        </p:nvSpPr>
        <p:spPr>
          <a:xfrm>
            <a:off x="465900" y="2730488"/>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Se ha encontrado que las publicaciones </a:t>
            </a:r>
            <a:r>
              <a:rPr lang="es"/>
              <a:t>audiovisuales</a:t>
            </a:r>
            <a:r>
              <a:rPr lang="es"/>
              <a:t> con </a:t>
            </a:r>
            <a:endParaRPr/>
          </a:p>
          <a:p>
            <a:pPr indent="0" lvl="0" marL="0" rtl="0" algn="l">
              <a:lnSpc>
                <a:spcPct val="115000"/>
              </a:lnSpc>
              <a:spcBef>
                <a:spcPts val="1200"/>
              </a:spcBef>
              <a:spcAft>
                <a:spcPts val="0"/>
              </a:spcAft>
              <a:buSzPts val="1300"/>
              <a:buNone/>
            </a:pPr>
            <a:r>
              <a:rPr lang="es"/>
              <a:t>una duración entre </a:t>
            </a:r>
            <a:r>
              <a:rPr b="1" lang="es">
                <a:solidFill>
                  <a:schemeClr val="dk2"/>
                </a:solidFill>
              </a:rPr>
              <a:t>18</a:t>
            </a:r>
            <a:r>
              <a:rPr b="1" lang="es">
                <a:solidFill>
                  <a:schemeClr val="dk2"/>
                </a:solidFill>
              </a:rPr>
              <a:t> y 115</a:t>
            </a:r>
            <a:r>
              <a:rPr lang="es"/>
              <a:t> segundos son las más propicias a </a:t>
            </a:r>
            <a:endParaRPr/>
          </a:p>
          <a:p>
            <a:pPr indent="0" lvl="0" marL="0" rtl="0" algn="l">
              <a:lnSpc>
                <a:spcPct val="115000"/>
              </a:lnSpc>
              <a:spcBef>
                <a:spcPts val="1200"/>
              </a:spcBef>
              <a:spcAft>
                <a:spcPts val="0"/>
              </a:spcAft>
              <a:buSzPts val="1300"/>
              <a:buNone/>
            </a:pPr>
            <a:r>
              <a:rPr lang="es"/>
              <a:t>generar más interacción </a:t>
            </a:r>
            <a:endParaRPr/>
          </a:p>
          <a:p>
            <a:pPr indent="0" lvl="0" marL="0" rtl="0" algn="l">
              <a:lnSpc>
                <a:spcPct val="115000"/>
              </a:lnSpc>
              <a:spcBef>
                <a:spcPts val="1200"/>
              </a:spcBef>
              <a:spcAft>
                <a:spcPts val="1200"/>
              </a:spcAft>
              <a:buSzPts val="1300"/>
              <a:buNone/>
            </a:pPr>
            <a:r>
              <a:rPr lang="es"/>
              <a:t> </a:t>
            </a:r>
            <a:endParaRPr/>
          </a:p>
        </p:txBody>
      </p:sp>
      <p:pic>
        <p:nvPicPr>
          <p:cNvPr id="154" name="Google Shape;154;g21b9fb9d6db_0_24"/>
          <p:cNvPicPr preferRelativeResize="0"/>
          <p:nvPr/>
        </p:nvPicPr>
        <p:blipFill>
          <a:blip r:embed="rId4">
            <a:alphaModFix/>
          </a:blip>
          <a:stretch>
            <a:fillRect/>
          </a:stretch>
        </p:blipFill>
        <p:spPr>
          <a:xfrm>
            <a:off x="5032200" y="1175675"/>
            <a:ext cx="3896200" cy="3654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5"/>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160" name="Google Shape;160;p5"/>
          <p:cNvSpPr txBox="1"/>
          <p:nvPr>
            <p:ph type="title"/>
          </p:nvPr>
        </p:nvSpPr>
        <p:spPr>
          <a:xfrm>
            <a:off x="3961075" y="5485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Publicación atípica facebook</a:t>
            </a:r>
            <a:endParaRPr/>
          </a:p>
        </p:txBody>
      </p:sp>
      <p:sp>
        <p:nvSpPr>
          <p:cNvPr id="161" name="Google Shape;161;p5"/>
          <p:cNvSpPr txBox="1"/>
          <p:nvPr>
            <p:ph idx="1" type="body"/>
          </p:nvPr>
        </p:nvSpPr>
        <p:spPr>
          <a:xfrm>
            <a:off x="181450" y="2032800"/>
            <a:ext cx="4468200" cy="3110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0000"/>
              <a:buNone/>
            </a:pPr>
            <a:r>
              <a:rPr lang="es"/>
              <a:t>Se ha encontrado una publicación que superó a todas las</a:t>
            </a:r>
            <a:endParaRPr/>
          </a:p>
          <a:p>
            <a:pPr indent="0" lvl="0" marL="0" rtl="0" algn="l">
              <a:lnSpc>
                <a:spcPct val="115000"/>
              </a:lnSpc>
              <a:spcBef>
                <a:spcPts val="1200"/>
              </a:spcBef>
              <a:spcAft>
                <a:spcPts val="0"/>
              </a:spcAft>
              <a:buSzPct val="92857"/>
              <a:buNone/>
            </a:pPr>
            <a:r>
              <a:rPr lang="es"/>
              <a:t>demás en materia de </a:t>
            </a:r>
            <a:r>
              <a:rPr b="1" i="1" lang="es" sz="1400"/>
              <a:t>comentarios, total de clicks, reacciones</a:t>
            </a:r>
            <a:endParaRPr b="1" i="1" sz="1400"/>
          </a:p>
          <a:p>
            <a:pPr indent="0" lvl="0" marL="0" rtl="0" algn="l">
              <a:lnSpc>
                <a:spcPct val="115000"/>
              </a:lnSpc>
              <a:spcBef>
                <a:spcPts val="1200"/>
              </a:spcBef>
              <a:spcAft>
                <a:spcPts val="0"/>
              </a:spcAft>
              <a:buSzPct val="92857"/>
              <a:buNone/>
            </a:pPr>
            <a:r>
              <a:rPr b="1" i="1" lang="es" sz="1400"/>
              <a:t>y alcance</a:t>
            </a:r>
            <a:r>
              <a:rPr lang="es"/>
              <a:t> y la descripción de esta publicación es:</a:t>
            </a:r>
            <a:endParaRPr/>
          </a:p>
          <a:p>
            <a:pPr indent="0" lvl="0" marL="0" rtl="0" algn="l">
              <a:lnSpc>
                <a:spcPct val="115000"/>
              </a:lnSpc>
              <a:spcBef>
                <a:spcPts val="1200"/>
              </a:spcBef>
              <a:spcAft>
                <a:spcPts val="0"/>
              </a:spcAft>
              <a:buSzPct val="100000"/>
              <a:buNone/>
            </a:pPr>
            <a:r>
              <a:rPr i="1" lang="es">
                <a:solidFill>
                  <a:schemeClr val="lt1"/>
                </a:solidFill>
                <a:highlight>
                  <a:srgbClr val="FF0000"/>
                </a:highlight>
              </a:rPr>
              <a:t>Identificador de la segunda publicación con mayores reacciones: </a:t>
            </a:r>
            <a:r>
              <a:rPr b="1" lang="es"/>
              <a:t>362135513227607</a:t>
            </a:r>
            <a:endParaRPr b="1"/>
          </a:p>
          <a:p>
            <a:pPr indent="0" lvl="0" marL="0" rtl="0" algn="l">
              <a:lnSpc>
                <a:spcPct val="115000"/>
              </a:lnSpc>
              <a:spcBef>
                <a:spcPts val="1200"/>
              </a:spcBef>
              <a:spcAft>
                <a:spcPts val="0"/>
              </a:spcAft>
              <a:buSzPct val="100000"/>
              <a:buNone/>
            </a:pPr>
            <a:r>
              <a:rPr lang="es">
                <a:solidFill>
                  <a:schemeClr val="dk2"/>
                </a:solidFill>
              </a:rPr>
              <a:t>Descripción de la segunda publicación con mayores reacciones:</a:t>
            </a:r>
            <a:r>
              <a:rPr b="1" lang="es">
                <a:solidFill>
                  <a:schemeClr val="dk2"/>
                </a:solidFill>
              </a:rPr>
              <a:t> Bienvenidos a este espacio donde vamos a interactuar con el señor alcalde Gustavo Vélez y nuestra comunidad. #ParaSerFelices</a:t>
            </a:r>
            <a:endParaRPr b="1">
              <a:solidFill>
                <a:schemeClr val="dk2"/>
              </a:solidFill>
            </a:endParaRPr>
          </a:p>
          <a:p>
            <a:pPr indent="0" lvl="0" marL="0" rtl="0" algn="l">
              <a:lnSpc>
                <a:spcPct val="115000"/>
              </a:lnSpc>
              <a:spcBef>
                <a:spcPts val="1200"/>
              </a:spcBef>
              <a:spcAft>
                <a:spcPts val="0"/>
              </a:spcAft>
              <a:buSzPct val="100000"/>
              <a:buNone/>
            </a:pPr>
            <a:r>
              <a:rPr lang="es">
                <a:solidFill>
                  <a:schemeClr val="dk2"/>
                </a:solidFill>
              </a:rPr>
              <a:t>Fecha de la segunda publicación con mayor alcance:</a:t>
            </a:r>
            <a:r>
              <a:rPr b="1" i="1" lang="es"/>
              <a:t> </a:t>
            </a:r>
            <a:r>
              <a:rPr b="1" i="1" lang="es">
                <a:solidFill>
                  <a:schemeClr val="lt1"/>
                </a:solidFill>
                <a:highlight>
                  <a:srgbClr val="FF0000"/>
                </a:highlight>
              </a:rPr>
              <a:t>2024-06-22</a:t>
            </a:r>
            <a:endParaRPr b="1" i="1">
              <a:solidFill>
                <a:schemeClr val="lt1"/>
              </a:solidFill>
              <a:highlight>
                <a:srgbClr val="FF0000"/>
              </a:highlight>
            </a:endParaRPr>
          </a:p>
          <a:p>
            <a:pPr indent="0" lvl="0" marL="0" rtl="0" algn="l">
              <a:lnSpc>
                <a:spcPct val="115000"/>
              </a:lnSpc>
              <a:spcBef>
                <a:spcPts val="1200"/>
              </a:spcBef>
              <a:spcAft>
                <a:spcPts val="1200"/>
              </a:spcAft>
              <a:buSzPct val="100000"/>
              <a:buNone/>
            </a:pPr>
            <a:r>
              <a:t/>
            </a:r>
            <a:endParaRPr/>
          </a:p>
        </p:txBody>
      </p:sp>
      <p:pic>
        <p:nvPicPr>
          <p:cNvPr id="162" name="Google Shape;162;p5"/>
          <p:cNvPicPr preferRelativeResize="0"/>
          <p:nvPr/>
        </p:nvPicPr>
        <p:blipFill>
          <a:blip r:embed="rId4">
            <a:alphaModFix/>
          </a:blip>
          <a:stretch>
            <a:fillRect/>
          </a:stretch>
        </p:blipFill>
        <p:spPr>
          <a:xfrm>
            <a:off x="5020275" y="1164250"/>
            <a:ext cx="4119501" cy="3979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g21b9fb9d6db_0_257"/>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168" name="Google Shape;168;g21b9fb9d6db_0_257"/>
          <p:cNvSpPr txBox="1"/>
          <p:nvPr>
            <p:ph type="title"/>
          </p:nvPr>
        </p:nvSpPr>
        <p:spPr>
          <a:xfrm>
            <a:off x="3642450" y="393775"/>
            <a:ext cx="7688700" cy="771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Promedio de ‘Me gustas’ instagram</a:t>
            </a:r>
            <a:endParaRPr/>
          </a:p>
          <a:p>
            <a:pPr indent="0" lvl="0" marL="0" rtl="0" algn="l">
              <a:lnSpc>
                <a:spcPct val="100000"/>
              </a:lnSpc>
              <a:spcBef>
                <a:spcPts val="0"/>
              </a:spcBef>
              <a:spcAft>
                <a:spcPts val="0"/>
              </a:spcAft>
              <a:buSzPct val="111111"/>
              <a:buNone/>
            </a:pPr>
            <a:r>
              <a:rPr lang="es"/>
              <a:t>mes de junio</a:t>
            </a:r>
            <a:endParaRPr/>
          </a:p>
        </p:txBody>
      </p:sp>
      <p:pic>
        <p:nvPicPr>
          <p:cNvPr id="169" name="Google Shape;169;g21b9fb9d6db_0_257"/>
          <p:cNvPicPr preferRelativeResize="0"/>
          <p:nvPr/>
        </p:nvPicPr>
        <p:blipFill>
          <a:blip r:embed="rId4">
            <a:alphaModFix/>
          </a:blip>
          <a:stretch>
            <a:fillRect/>
          </a:stretch>
        </p:blipFill>
        <p:spPr>
          <a:xfrm>
            <a:off x="3844099" y="1457100"/>
            <a:ext cx="5295675" cy="3424000"/>
          </a:xfrm>
          <a:prstGeom prst="rect">
            <a:avLst/>
          </a:prstGeom>
          <a:noFill/>
          <a:ln>
            <a:noFill/>
          </a:ln>
        </p:spPr>
      </p:pic>
      <p:sp>
        <p:nvSpPr>
          <p:cNvPr id="170" name="Google Shape;170;g21b9fb9d6db_0_257"/>
          <p:cNvSpPr txBox="1"/>
          <p:nvPr/>
        </p:nvSpPr>
        <p:spPr>
          <a:xfrm>
            <a:off x="109200" y="2808550"/>
            <a:ext cx="3232800" cy="207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300">
                <a:solidFill>
                  <a:srgbClr val="595959"/>
                </a:solidFill>
                <a:latin typeface="Lato"/>
                <a:ea typeface="Lato"/>
                <a:cs typeface="Lato"/>
                <a:sym typeface="Lato"/>
              </a:rPr>
              <a:t>La gran mayoría de publicaciones se encuentran entre </a:t>
            </a:r>
            <a:r>
              <a:rPr b="1" lang="es" sz="1300">
                <a:solidFill>
                  <a:srgbClr val="1A1A1A"/>
                </a:solidFill>
                <a:latin typeface="Lato"/>
                <a:ea typeface="Lato"/>
                <a:cs typeface="Lato"/>
                <a:sym typeface="Lato"/>
              </a:rPr>
              <a:t>40</a:t>
            </a:r>
            <a:r>
              <a:rPr lang="es" sz="1300">
                <a:solidFill>
                  <a:srgbClr val="595959"/>
                </a:solidFill>
                <a:latin typeface="Lato"/>
                <a:ea typeface="Lato"/>
                <a:cs typeface="Lato"/>
                <a:sym typeface="Lato"/>
              </a:rPr>
              <a:t> y  </a:t>
            </a:r>
            <a:r>
              <a:rPr b="1" lang="es" sz="1300">
                <a:solidFill>
                  <a:srgbClr val="1A1A1A"/>
                </a:solidFill>
                <a:latin typeface="Lato"/>
                <a:ea typeface="Lato"/>
                <a:cs typeface="Lato"/>
                <a:sym typeface="Lato"/>
              </a:rPr>
              <a:t>73</a:t>
            </a:r>
            <a:r>
              <a:rPr lang="es" sz="1300">
                <a:solidFill>
                  <a:srgbClr val="595959"/>
                </a:solidFill>
                <a:latin typeface="Lato"/>
                <a:ea typeface="Lato"/>
                <a:cs typeface="Lato"/>
                <a:sym typeface="Lato"/>
              </a:rPr>
              <a:t> ‘Me gusta’ siendo </a:t>
            </a:r>
            <a:r>
              <a:rPr b="1" lang="es" sz="1300">
                <a:solidFill>
                  <a:srgbClr val="1A1A1A"/>
                </a:solidFill>
                <a:latin typeface="Lato"/>
                <a:ea typeface="Lato"/>
                <a:cs typeface="Lato"/>
                <a:sym typeface="Lato"/>
              </a:rPr>
              <a:t>122</a:t>
            </a:r>
            <a:r>
              <a:rPr lang="es" sz="1300">
                <a:solidFill>
                  <a:srgbClr val="595959"/>
                </a:solidFill>
                <a:latin typeface="Lato"/>
                <a:ea typeface="Lato"/>
                <a:cs typeface="Lato"/>
                <a:sym typeface="Lato"/>
              </a:rPr>
              <a:t> ‘Me gusta’ la cifra más alta alcanzada por varias publicaciones</a:t>
            </a:r>
            <a:endParaRPr b="1" sz="1300">
              <a:solidFill>
                <a:srgbClr val="1A1A1A"/>
              </a:solidFill>
              <a:latin typeface="Lato"/>
              <a:ea typeface="Lato"/>
              <a:cs typeface="Lato"/>
              <a:sym typeface="Lato"/>
            </a:endParaRPr>
          </a:p>
          <a:p>
            <a:pPr indent="0" lvl="0" marL="0" rtl="0" algn="l">
              <a:lnSpc>
                <a:spcPct val="115000"/>
              </a:lnSpc>
              <a:spcBef>
                <a:spcPts val="1200"/>
              </a:spcBef>
              <a:spcAft>
                <a:spcPts val="1200"/>
              </a:spcAft>
              <a:buNone/>
            </a:pPr>
            <a:r>
              <a:t/>
            </a:r>
            <a:endParaRPr sz="1300">
              <a:solidFill>
                <a:srgbClr val="595959"/>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g21b9fb9d6db_0_267"/>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176" name="Google Shape;176;g21b9fb9d6db_0_267"/>
          <p:cNvSpPr txBox="1"/>
          <p:nvPr>
            <p:ph type="title"/>
          </p:nvPr>
        </p:nvSpPr>
        <p:spPr>
          <a:xfrm>
            <a:off x="3451275" y="412000"/>
            <a:ext cx="5772900" cy="817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Promedio de ‘Reacciones e </a:t>
            </a:r>
            <a:r>
              <a:rPr lang="es"/>
              <a:t>interacción</a:t>
            </a:r>
            <a:r>
              <a:rPr lang="es"/>
              <a:t>’ </a:t>
            </a:r>
            <a:endParaRPr/>
          </a:p>
          <a:p>
            <a:pPr indent="0" lvl="0" marL="0" rtl="0" algn="l">
              <a:lnSpc>
                <a:spcPct val="100000"/>
              </a:lnSpc>
              <a:spcBef>
                <a:spcPts val="0"/>
              </a:spcBef>
              <a:spcAft>
                <a:spcPts val="0"/>
              </a:spcAft>
              <a:buSzPct val="111111"/>
              <a:buNone/>
            </a:pPr>
            <a:r>
              <a:rPr lang="es"/>
              <a:t>facebook mes de junio</a:t>
            </a:r>
            <a:endParaRPr/>
          </a:p>
        </p:txBody>
      </p:sp>
      <p:sp>
        <p:nvSpPr>
          <p:cNvPr id="177" name="Google Shape;177;g21b9fb9d6db_0_267"/>
          <p:cNvSpPr txBox="1"/>
          <p:nvPr/>
        </p:nvSpPr>
        <p:spPr>
          <a:xfrm>
            <a:off x="109200" y="2808550"/>
            <a:ext cx="3232800" cy="207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300">
                <a:solidFill>
                  <a:srgbClr val="595959"/>
                </a:solidFill>
                <a:latin typeface="Lato"/>
                <a:ea typeface="Lato"/>
                <a:cs typeface="Lato"/>
                <a:sym typeface="Lato"/>
              </a:rPr>
              <a:t>La gran mayoría de publicaciones se encuentran entre </a:t>
            </a:r>
            <a:r>
              <a:rPr b="1" lang="es" sz="1300">
                <a:solidFill>
                  <a:srgbClr val="1A1A1A"/>
                </a:solidFill>
                <a:latin typeface="Lato"/>
                <a:ea typeface="Lato"/>
                <a:cs typeface="Lato"/>
                <a:sym typeface="Lato"/>
              </a:rPr>
              <a:t>90</a:t>
            </a:r>
            <a:r>
              <a:rPr lang="es" sz="1300">
                <a:solidFill>
                  <a:srgbClr val="595959"/>
                </a:solidFill>
                <a:latin typeface="Lato"/>
                <a:ea typeface="Lato"/>
                <a:cs typeface="Lato"/>
                <a:sym typeface="Lato"/>
              </a:rPr>
              <a:t> y  </a:t>
            </a:r>
            <a:r>
              <a:rPr b="1" lang="es" sz="1300">
                <a:solidFill>
                  <a:srgbClr val="1A1A1A"/>
                </a:solidFill>
                <a:latin typeface="Lato"/>
                <a:ea typeface="Lato"/>
                <a:cs typeface="Lato"/>
                <a:sym typeface="Lato"/>
              </a:rPr>
              <a:t>140</a:t>
            </a:r>
            <a:r>
              <a:rPr lang="es" sz="1300">
                <a:solidFill>
                  <a:srgbClr val="595959"/>
                </a:solidFill>
                <a:latin typeface="Lato"/>
                <a:ea typeface="Lato"/>
                <a:cs typeface="Lato"/>
                <a:sym typeface="Lato"/>
              </a:rPr>
              <a:t> reacciones siendo </a:t>
            </a:r>
            <a:r>
              <a:rPr b="1" lang="es" sz="1300">
                <a:solidFill>
                  <a:srgbClr val="1A1A1A"/>
                </a:solidFill>
                <a:latin typeface="Lato"/>
                <a:ea typeface="Lato"/>
                <a:cs typeface="Lato"/>
                <a:sym typeface="Lato"/>
              </a:rPr>
              <a:t>190</a:t>
            </a:r>
            <a:r>
              <a:rPr lang="es" sz="1300">
                <a:solidFill>
                  <a:srgbClr val="595959"/>
                </a:solidFill>
                <a:latin typeface="Lato"/>
                <a:ea typeface="Lato"/>
                <a:cs typeface="Lato"/>
                <a:sym typeface="Lato"/>
              </a:rPr>
              <a:t> reacciones la cifra más alta alcanzada por varias publicaciones</a:t>
            </a:r>
            <a:endParaRPr b="1" sz="1300">
              <a:solidFill>
                <a:srgbClr val="1A1A1A"/>
              </a:solidFill>
              <a:latin typeface="Lato"/>
              <a:ea typeface="Lato"/>
              <a:cs typeface="Lato"/>
              <a:sym typeface="Lato"/>
            </a:endParaRPr>
          </a:p>
          <a:p>
            <a:pPr indent="0" lvl="0" marL="0" rtl="0" algn="l">
              <a:lnSpc>
                <a:spcPct val="115000"/>
              </a:lnSpc>
              <a:spcBef>
                <a:spcPts val="1200"/>
              </a:spcBef>
              <a:spcAft>
                <a:spcPts val="1200"/>
              </a:spcAft>
              <a:buNone/>
            </a:pPr>
            <a:r>
              <a:t/>
            </a:r>
            <a:endParaRPr sz="1300">
              <a:solidFill>
                <a:srgbClr val="595959"/>
              </a:solidFill>
              <a:latin typeface="Lato"/>
              <a:ea typeface="Lato"/>
              <a:cs typeface="Lato"/>
              <a:sym typeface="Lato"/>
            </a:endParaRPr>
          </a:p>
        </p:txBody>
      </p:sp>
      <p:pic>
        <p:nvPicPr>
          <p:cNvPr id="178" name="Google Shape;178;g21b9fb9d6db_0_267"/>
          <p:cNvPicPr preferRelativeResize="0"/>
          <p:nvPr/>
        </p:nvPicPr>
        <p:blipFill>
          <a:blip r:embed="rId4">
            <a:alphaModFix/>
          </a:blip>
          <a:stretch>
            <a:fillRect/>
          </a:stretch>
        </p:blipFill>
        <p:spPr>
          <a:xfrm>
            <a:off x="3542138" y="1307375"/>
            <a:ext cx="5591175" cy="3657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g21b9fb9d6db_0_275"/>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184" name="Google Shape;184;g21b9fb9d6db_0_275"/>
          <p:cNvSpPr txBox="1"/>
          <p:nvPr>
            <p:ph type="title"/>
          </p:nvPr>
        </p:nvSpPr>
        <p:spPr>
          <a:xfrm>
            <a:off x="3366875" y="195450"/>
            <a:ext cx="5772900" cy="817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Seguimiento de ‘Reacciones’ y ‘Me gusta’ a lo largo del mes de junio </a:t>
            </a:r>
            <a:endParaRPr/>
          </a:p>
        </p:txBody>
      </p:sp>
      <p:pic>
        <p:nvPicPr>
          <p:cNvPr id="185" name="Google Shape;185;g21b9fb9d6db_0_275"/>
          <p:cNvPicPr preferRelativeResize="0"/>
          <p:nvPr/>
        </p:nvPicPr>
        <p:blipFill>
          <a:blip r:embed="rId4">
            <a:alphaModFix/>
          </a:blip>
          <a:stretch>
            <a:fillRect/>
          </a:stretch>
        </p:blipFill>
        <p:spPr>
          <a:xfrm>
            <a:off x="1025113" y="1218675"/>
            <a:ext cx="7375324" cy="3715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g21b9fb9d6db_0_138"/>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191" name="Google Shape;191;g21b9fb9d6db_0_138"/>
          <p:cNvSpPr txBox="1"/>
          <p:nvPr>
            <p:ph type="title"/>
          </p:nvPr>
        </p:nvSpPr>
        <p:spPr>
          <a:xfrm>
            <a:off x="365083" y="2443491"/>
            <a:ext cx="3177000" cy="812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444"/>
              <a:buNone/>
            </a:pPr>
            <a:r>
              <a:rPr lang="es" sz="1300"/>
              <a:t>Publicación con mayor Alcance</a:t>
            </a:r>
            <a:br>
              <a:rPr lang="es" sz="1300"/>
            </a:br>
            <a:r>
              <a:rPr lang="es" sz="1300"/>
              <a:t>Plataforma: Instagram</a:t>
            </a:r>
            <a:br>
              <a:rPr lang="es" sz="1300"/>
            </a:br>
            <a:r>
              <a:rPr lang="es" sz="1300"/>
              <a:t>Métricas: —-</a:t>
            </a:r>
            <a:endParaRPr sz="1300"/>
          </a:p>
        </p:txBody>
      </p:sp>
      <p:sp>
        <p:nvSpPr>
          <p:cNvPr id="192" name="Google Shape;192;g21b9fb9d6db_0_138"/>
          <p:cNvSpPr txBox="1"/>
          <p:nvPr>
            <p:ph idx="1" type="body"/>
          </p:nvPr>
        </p:nvSpPr>
        <p:spPr>
          <a:xfrm>
            <a:off x="3542124" y="1284803"/>
            <a:ext cx="4519800" cy="2731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i="1" lang="es" sz="1100">
                <a:solidFill>
                  <a:schemeClr val="lt1"/>
                </a:solidFill>
                <a:highlight>
                  <a:srgbClr val="FF0000"/>
                </a:highlight>
                <a:latin typeface="Arial"/>
                <a:ea typeface="Arial"/>
                <a:cs typeface="Arial"/>
                <a:sym typeface="Arial"/>
              </a:rPr>
              <a:t>Descripción de la publicación con mayor cantidad de (Alcance) (ID: 17851566909180661 ):</a:t>
            </a:r>
            <a:r>
              <a:rPr lang="es" sz="1100">
                <a:solidFill>
                  <a:srgbClr val="000000"/>
                </a:solidFill>
                <a:highlight>
                  <a:srgbClr val="FFFFFF"/>
                </a:highlight>
                <a:latin typeface="Arial"/>
                <a:ea typeface="Arial"/>
                <a:cs typeface="Arial"/>
                <a:sym typeface="Arial"/>
              </a:rPr>
              <a:t> </a:t>
            </a:r>
            <a:r>
              <a:rPr b="1" lang="es" sz="1100">
                <a:solidFill>
                  <a:srgbClr val="000000"/>
                </a:solidFill>
                <a:highlight>
                  <a:srgbClr val="FFFFFF"/>
                </a:highlight>
                <a:latin typeface="Arial"/>
                <a:ea typeface="Arial"/>
                <a:cs typeface="Arial"/>
                <a:sym typeface="Arial"/>
              </a:rPr>
              <a:t>Hoy en el Día Mundial de la Seguridad Vial, queremos invitar a nuestra comunidad a unirse a esta campaña de cuidado a la integridad y al bienestar de cada ciudadano tulueño en nuestras calles. Entre todos nos cuidamos #ParaSerFelices ✅💙</a:t>
            </a:r>
            <a:endParaRPr b="1" sz="1100">
              <a:solidFill>
                <a:srgbClr val="000000"/>
              </a:solidFill>
              <a:highlight>
                <a:srgbClr val="FFFFFF"/>
              </a:highlight>
              <a:latin typeface="Arial"/>
              <a:ea typeface="Arial"/>
              <a:cs typeface="Arial"/>
              <a:sym typeface="Arial"/>
            </a:endParaRPr>
          </a:p>
          <a:p>
            <a:pPr indent="0" lvl="0" marL="0" rtl="0" algn="l">
              <a:lnSpc>
                <a:spcPct val="115000"/>
              </a:lnSpc>
              <a:spcBef>
                <a:spcPts val="2400"/>
              </a:spcBef>
              <a:spcAft>
                <a:spcPts val="1200"/>
              </a:spcAft>
              <a:buSzPts val="1300"/>
              <a:buNone/>
            </a:pPr>
            <a:r>
              <a:t/>
            </a:r>
            <a:endParaRPr b="1" i="1" sz="1100">
              <a:solidFill>
                <a:schemeClr val="lt1"/>
              </a:solidFill>
              <a:highlight>
                <a:srgbClr val="FF0000"/>
              </a:highlight>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g21b9fb9d6db_0_233"/>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198" name="Google Shape;198;g21b9fb9d6db_0_233"/>
          <p:cNvSpPr txBox="1"/>
          <p:nvPr>
            <p:ph type="title"/>
          </p:nvPr>
        </p:nvSpPr>
        <p:spPr>
          <a:xfrm>
            <a:off x="365083" y="2443491"/>
            <a:ext cx="3177000" cy="812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s" sz="1300"/>
              <a:t>Publicaciones con mayor cantidad de comentarios</a:t>
            </a:r>
            <a:br>
              <a:rPr lang="es" sz="1300"/>
            </a:br>
            <a:r>
              <a:rPr lang="es" sz="1300"/>
              <a:t>Plataforma: Instagram</a:t>
            </a:r>
            <a:br>
              <a:rPr lang="es" sz="1300"/>
            </a:br>
            <a:r>
              <a:rPr lang="es" sz="1300"/>
              <a:t>Métricas: —-</a:t>
            </a:r>
            <a:endParaRPr sz="1300"/>
          </a:p>
        </p:txBody>
      </p:sp>
      <p:sp>
        <p:nvSpPr>
          <p:cNvPr id="199" name="Google Shape;199;g21b9fb9d6db_0_233"/>
          <p:cNvSpPr txBox="1"/>
          <p:nvPr>
            <p:ph idx="1" type="body"/>
          </p:nvPr>
        </p:nvSpPr>
        <p:spPr>
          <a:xfrm>
            <a:off x="3648350" y="1239250"/>
            <a:ext cx="5061300" cy="1820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2400"/>
              </a:spcBef>
              <a:spcAft>
                <a:spcPts val="1200"/>
              </a:spcAft>
              <a:buSzPts val="1300"/>
              <a:buNone/>
            </a:pPr>
            <a:r>
              <a:rPr b="1" i="1" lang="es" sz="1100">
                <a:solidFill>
                  <a:schemeClr val="lt1"/>
                </a:solidFill>
                <a:highlight>
                  <a:srgbClr val="FF0000"/>
                </a:highlight>
                <a:latin typeface="Arial"/>
                <a:ea typeface="Arial"/>
                <a:cs typeface="Arial"/>
                <a:sym typeface="Arial"/>
              </a:rPr>
              <a:t>Descripción de la publicación con mayor cantidad de comentarios (ID: 17851566909180661 ):</a:t>
            </a:r>
            <a:r>
              <a:rPr b="1" lang="es" sz="1100">
                <a:solidFill>
                  <a:schemeClr val="dk2"/>
                </a:solidFill>
                <a:latin typeface="Arial"/>
                <a:ea typeface="Arial"/>
                <a:cs typeface="Arial"/>
                <a:sym typeface="Arial"/>
              </a:rPr>
              <a:t> Hoy en el Día Mundial de la Seguridad Vial, queremos invitar a nuestra comunidad a unirse a esta campaña de cuidado a la integridad y al bienestar de cada ciudadano tulueño en nuestras calles. Entre todos nos cuidamos #ParaSerFelices ✅💙</a:t>
            </a:r>
            <a:endParaRPr b="1" sz="1100">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g21b9fb9d6db_0_227"/>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205" name="Google Shape;205;g21b9fb9d6db_0_227"/>
          <p:cNvSpPr txBox="1"/>
          <p:nvPr>
            <p:ph type="title"/>
          </p:nvPr>
        </p:nvSpPr>
        <p:spPr>
          <a:xfrm>
            <a:off x="365083" y="2443491"/>
            <a:ext cx="3177000" cy="812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444"/>
              <a:buNone/>
            </a:pPr>
            <a:r>
              <a:rPr lang="es" sz="1300"/>
              <a:t>Publicaciones</a:t>
            </a:r>
            <a:r>
              <a:rPr lang="es" sz="1300"/>
              <a:t> con menos me gustas</a:t>
            </a:r>
            <a:br>
              <a:rPr lang="es" sz="1300"/>
            </a:br>
            <a:r>
              <a:rPr lang="es" sz="1300"/>
              <a:t>Plataforma: Instagram</a:t>
            </a:r>
            <a:br>
              <a:rPr lang="es" sz="1300"/>
            </a:br>
            <a:r>
              <a:rPr lang="es" sz="1300"/>
              <a:t>Métricas: —-</a:t>
            </a:r>
            <a:endParaRPr sz="1300"/>
          </a:p>
        </p:txBody>
      </p:sp>
      <p:sp>
        <p:nvSpPr>
          <p:cNvPr id="206" name="Google Shape;206;g21b9fb9d6db_0_227"/>
          <p:cNvSpPr txBox="1"/>
          <p:nvPr>
            <p:ph idx="1" type="body"/>
          </p:nvPr>
        </p:nvSpPr>
        <p:spPr>
          <a:xfrm>
            <a:off x="3393450" y="501875"/>
            <a:ext cx="5061300" cy="368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2400"/>
              </a:spcBef>
              <a:spcAft>
                <a:spcPts val="0"/>
              </a:spcAft>
              <a:buSzPct val="118181"/>
              <a:buNone/>
            </a:pPr>
            <a:r>
              <a:rPr i="1" lang="es" sz="1100">
                <a:solidFill>
                  <a:schemeClr val="lt1"/>
                </a:solidFill>
                <a:highlight>
                  <a:srgbClr val="FF0000"/>
                </a:highlight>
                <a:latin typeface="Arial"/>
                <a:ea typeface="Arial"/>
                <a:cs typeface="Arial"/>
                <a:sym typeface="Arial"/>
              </a:rPr>
              <a:t>Descripciones de las tres publicaciones con menor cantidad de (me gustas):</a:t>
            </a:r>
            <a:endParaRPr i="1" sz="1100">
              <a:solidFill>
                <a:schemeClr val="lt1"/>
              </a:solidFill>
              <a:highlight>
                <a:srgbClr val="FF0000"/>
              </a:highlight>
              <a:latin typeface="Arial"/>
              <a:ea typeface="Arial"/>
              <a:cs typeface="Arial"/>
              <a:sym typeface="Arial"/>
            </a:endParaRPr>
          </a:p>
          <a:p>
            <a:pPr indent="0" lvl="0" marL="0" rtl="0" algn="l">
              <a:lnSpc>
                <a:spcPct val="115000"/>
              </a:lnSpc>
              <a:spcBef>
                <a:spcPts val="2400"/>
              </a:spcBef>
              <a:spcAft>
                <a:spcPts val="0"/>
              </a:spcAft>
              <a:buSzPct val="118181"/>
              <a:buNone/>
            </a:pPr>
            <a:r>
              <a:rPr b="1" lang="es" sz="1100">
                <a:solidFill>
                  <a:schemeClr val="dk2"/>
                </a:solidFill>
                <a:latin typeface="Arial"/>
                <a:ea typeface="Arial"/>
                <a:cs typeface="Arial"/>
                <a:sym typeface="Arial"/>
              </a:rPr>
              <a:t>-Gracias por ser el guía de nuestras vidas, por ser nuestro pilar, por tu apoyo, cariño y sabiduría. Por eso, hoy y todos los días, ¡Feliz Día Papá!✨🫶🏼 #ParaSerFelices 💙</a:t>
            </a:r>
            <a:endParaRPr b="1" sz="1100">
              <a:solidFill>
                <a:schemeClr val="dk2"/>
              </a:solidFill>
              <a:latin typeface="Arial"/>
              <a:ea typeface="Arial"/>
              <a:cs typeface="Arial"/>
              <a:sym typeface="Arial"/>
            </a:endParaRPr>
          </a:p>
          <a:p>
            <a:pPr indent="0" lvl="0" marL="0" rtl="0" algn="l">
              <a:lnSpc>
                <a:spcPct val="115000"/>
              </a:lnSpc>
              <a:spcBef>
                <a:spcPts val="2400"/>
              </a:spcBef>
              <a:spcAft>
                <a:spcPts val="0"/>
              </a:spcAft>
              <a:buSzPct val="118181"/>
              <a:buNone/>
            </a:pPr>
            <a:r>
              <a:rPr b="1" lang="es" sz="1100">
                <a:solidFill>
                  <a:schemeClr val="dk2"/>
                </a:solidFill>
                <a:latin typeface="Arial"/>
                <a:ea typeface="Arial"/>
                <a:cs typeface="Arial"/>
                <a:sym typeface="Arial"/>
              </a:rPr>
              <a:t>Etiqueta a tu papá y deséale un feliz día. ⬇️</a:t>
            </a:r>
            <a:endParaRPr b="1" sz="1100">
              <a:solidFill>
                <a:schemeClr val="dk2"/>
              </a:solidFill>
              <a:latin typeface="Arial"/>
              <a:ea typeface="Arial"/>
              <a:cs typeface="Arial"/>
              <a:sym typeface="Arial"/>
            </a:endParaRPr>
          </a:p>
          <a:p>
            <a:pPr indent="0" lvl="0" marL="0" rtl="0" algn="l">
              <a:lnSpc>
                <a:spcPct val="115000"/>
              </a:lnSpc>
              <a:spcBef>
                <a:spcPts val="2400"/>
              </a:spcBef>
              <a:spcAft>
                <a:spcPts val="0"/>
              </a:spcAft>
              <a:buSzPct val="118181"/>
              <a:buNone/>
            </a:pPr>
            <a:r>
              <a:rPr b="1" lang="es" sz="1100">
                <a:solidFill>
                  <a:schemeClr val="dk2"/>
                </a:solidFill>
                <a:latin typeface="Arial"/>
                <a:ea typeface="Arial"/>
                <a:cs typeface="Arial"/>
                <a:sym typeface="Arial"/>
              </a:rPr>
              <a:t>-#TulueñosFelices |  Hoy, los corazones de nuestra comunidad campesina están llenos de gratitud, porque continuamos con un trabajo incansable en la zona rural, para mantener seguro a cada ciudadano que enfrenta hoy los desafíos del fenómeno de la niña. Convertimos a Tuluá en un lugar #ParaSerFelices 💙✅💪</a:t>
            </a:r>
            <a:endParaRPr b="1" sz="1100">
              <a:solidFill>
                <a:schemeClr val="dk2"/>
              </a:solidFill>
              <a:latin typeface="Arial"/>
              <a:ea typeface="Arial"/>
              <a:cs typeface="Arial"/>
              <a:sym typeface="Arial"/>
            </a:endParaRPr>
          </a:p>
          <a:p>
            <a:pPr indent="0" lvl="0" marL="0" rtl="0" algn="l">
              <a:lnSpc>
                <a:spcPct val="115000"/>
              </a:lnSpc>
              <a:spcBef>
                <a:spcPts val="2400"/>
              </a:spcBef>
              <a:spcAft>
                <a:spcPts val="1200"/>
              </a:spcAft>
              <a:buSzPct val="118181"/>
              <a:buNone/>
            </a:pPr>
            <a:r>
              <a:rPr b="1" lang="es" sz="1100">
                <a:solidFill>
                  <a:schemeClr val="dk2"/>
                </a:solidFill>
                <a:latin typeface="Arial"/>
                <a:ea typeface="Arial"/>
                <a:cs typeface="Arial"/>
                <a:sym typeface="Arial"/>
              </a:rPr>
              <a:t>-Desde el Departamento Administrativo de Movilidad y Seguridad Vial, continuamos con un trabajo constante de pedagogía y educación vial a toda nuestra comunidad con estas jornadas, con el fin de dar a conocer la importancia de utilizar casco para la movilidad segura dentro de nuestro municipio. #ParaSerFelices 💙✅</a:t>
            </a:r>
            <a:endParaRPr b="1" sz="1100">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g21b9fb9d6db_0_33"/>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212" name="Google Shape;212;g21b9fb9d6db_0_33"/>
          <p:cNvSpPr txBox="1"/>
          <p:nvPr>
            <p:ph type="title"/>
          </p:nvPr>
        </p:nvSpPr>
        <p:spPr>
          <a:xfrm>
            <a:off x="62772" y="2429921"/>
            <a:ext cx="2909100" cy="812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s" sz="1400"/>
              <a:t>Publicaciones</a:t>
            </a:r>
            <a:r>
              <a:rPr lang="es" sz="1400"/>
              <a:t> con mayor Alcance</a:t>
            </a:r>
            <a:br>
              <a:rPr lang="es" sz="1400"/>
            </a:br>
            <a:r>
              <a:rPr lang="es" sz="1400"/>
              <a:t>Plataforma</a:t>
            </a:r>
            <a:r>
              <a:rPr lang="es" sz="1400"/>
              <a:t>: Facebook</a:t>
            </a:r>
            <a:br>
              <a:rPr lang="es" sz="1400"/>
            </a:br>
            <a:r>
              <a:rPr lang="es" sz="1400"/>
              <a:t>Métricas: —-</a:t>
            </a:r>
            <a:endParaRPr sz="1400"/>
          </a:p>
        </p:txBody>
      </p:sp>
      <p:sp>
        <p:nvSpPr>
          <p:cNvPr id="213" name="Google Shape;213;g21b9fb9d6db_0_33"/>
          <p:cNvSpPr txBox="1"/>
          <p:nvPr>
            <p:ph idx="1" type="body"/>
          </p:nvPr>
        </p:nvSpPr>
        <p:spPr>
          <a:xfrm>
            <a:off x="3157400" y="357070"/>
            <a:ext cx="5586300" cy="391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i="1" lang="es" sz="1100">
                <a:solidFill>
                  <a:schemeClr val="lt1"/>
                </a:solidFill>
                <a:highlight>
                  <a:srgbClr val="FF0000"/>
                </a:highlight>
                <a:latin typeface="Arial"/>
                <a:ea typeface="Arial"/>
                <a:cs typeface="Arial"/>
                <a:sym typeface="Arial"/>
              </a:rPr>
              <a:t>Tipo: Post</a:t>
            </a:r>
            <a:endParaRPr b="1" sz="1100">
              <a:solidFill>
                <a:srgbClr val="000000"/>
              </a:solidFill>
              <a:highlight>
                <a:srgbClr val="FFFFFF"/>
              </a:highlight>
              <a:latin typeface="Arial"/>
              <a:ea typeface="Arial"/>
              <a:cs typeface="Arial"/>
              <a:sym typeface="Arial"/>
            </a:endParaRPr>
          </a:p>
          <a:p>
            <a:pPr indent="0" lvl="0" marL="0" rtl="0" algn="l">
              <a:lnSpc>
                <a:spcPct val="115000"/>
              </a:lnSpc>
              <a:spcBef>
                <a:spcPts val="0"/>
              </a:spcBef>
              <a:spcAft>
                <a:spcPts val="0"/>
              </a:spcAft>
              <a:buSzPts val="1300"/>
              <a:buNone/>
            </a:pPr>
            <a:r>
              <a:rPr b="1" i="1" lang="es" sz="1100">
                <a:solidFill>
                  <a:schemeClr val="lt1"/>
                </a:solidFill>
                <a:highlight>
                  <a:srgbClr val="FF0000"/>
                </a:highlight>
                <a:latin typeface="Arial"/>
                <a:ea typeface="Arial"/>
                <a:cs typeface="Arial"/>
                <a:sym typeface="Arial"/>
              </a:rPr>
              <a:t>Identificador de la publicación con mayor alcance:</a:t>
            </a:r>
            <a:r>
              <a:rPr b="1" lang="es" sz="1100">
                <a:solidFill>
                  <a:srgbClr val="000000"/>
                </a:solidFill>
                <a:highlight>
                  <a:srgbClr val="FFFFFF"/>
                </a:highlight>
                <a:latin typeface="Arial"/>
                <a:ea typeface="Arial"/>
                <a:cs typeface="Arial"/>
                <a:sym typeface="Arial"/>
              </a:rPr>
              <a:t> </a:t>
            </a:r>
            <a:r>
              <a:rPr lang="es" sz="1100">
                <a:solidFill>
                  <a:srgbClr val="000000"/>
                </a:solidFill>
                <a:highlight>
                  <a:srgbClr val="FFFFFF"/>
                </a:highlight>
                <a:latin typeface="Arial"/>
                <a:ea typeface="Arial"/>
                <a:cs typeface="Arial"/>
                <a:sym typeface="Arial"/>
              </a:rPr>
              <a:t>898419278992072</a:t>
            </a:r>
            <a:endParaRPr sz="1100">
              <a:solidFill>
                <a:srgbClr val="000000"/>
              </a:solidFill>
              <a:highlight>
                <a:srgbClr val="FFFFFF"/>
              </a:highlight>
              <a:latin typeface="Arial"/>
              <a:ea typeface="Arial"/>
              <a:cs typeface="Arial"/>
              <a:sym typeface="Arial"/>
            </a:endParaRPr>
          </a:p>
          <a:p>
            <a:pPr indent="0" lvl="0" marL="0" rtl="0" algn="l">
              <a:lnSpc>
                <a:spcPct val="115000"/>
              </a:lnSpc>
              <a:spcBef>
                <a:spcPts val="0"/>
              </a:spcBef>
              <a:spcAft>
                <a:spcPts val="0"/>
              </a:spcAft>
              <a:buSzPts val="1300"/>
              <a:buNone/>
            </a:pPr>
            <a:r>
              <a:rPr lang="es" sz="1100">
                <a:solidFill>
                  <a:srgbClr val="000000"/>
                </a:solidFill>
                <a:highlight>
                  <a:srgbClr val="FFFFFF"/>
                </a:highlight>
                <a:latin typeface="Arial"/>
                <a:ea typeface="Arial"/>
                <a:cs typeface="Arial"/>
                <a:sym typeface="Arial"/>
              </a:rPr>
              <a:t>Descripción de la publicación con mayor alcance (ID: 898419278992072 ):</a:t>
            </a:r>
            <a:r>
              <a:rPr b="1" lang="es" sz="1100">
                <a:solidFill>
                  <a:srgbClr val="000000"/>
                </a:solidFill>
                <a:highlight>
                  <a:srgbClr val="FFFFFF"/>
                </a:highlight>
                <a:latin typeface="Arial"/>
                <a:ea typeface="Arial"/>
                <a:cs typeface="Arial"/>
                <a:sym typeface="Arial"/>
              </a:rPr>
              <a:t> ¡Feliz día del Orgullo!🌈💪🏼</a:t>
            </a:r>
            <a:endParaRPr b="1" sz="1100">
              <a:solidFill>
                <a:srgbClr val="000000"/>
              </a:solidFill>
              <a:highlight>
                <a:srgbClr val="FFFFFF"/>
              </a:highlight>
              <a:latin typeface="Arial"/>
              <a:ea typeface="Arial"/>
              <a:cs typeface="Arial"/>
              <a:sym typeface="Arial"/>
            </a:endParaRPr>
          </a:p>
          <a:p>
            <a:pPr indent="0" lvl="0" marL="0" rtl="0" algn="l">
              <a:lnSpc>
                <a:spcPct val="115000"/>
              </a:lnSpc>
              <a:spcBef>
                <a:spcPts val="0"/>
              </a:spcBef>
              <a:spcAft>
                <a:spcPts val="0"/>
              </a:spcAft>
              <a:buSzPts val="1300"/>
              <a:buNone/>
            </a:pPr>
            <a:r>
              <a:rPr b="1" lang="es" sz="1100">
                <a:solidFill>
                  <a:srgbClr val="000000"/>
                </a:solidFill>
                <a:highlight>
                  <a:srgbClr val="FFFFFF"/>
                </a:highlight>
                <a:latin typeface="Arial"/>
                <a:ea typeface="Arial"/>
                <a:cs typeface="Arial"/>
                <a:sym typeface="Arial"/>
              </a:rPr>
              <a:t>Hoy y todos los días, celebramos juntos la diversidad y el amor en todas sus formas y colores desde el respeto y el cariño.🏳‍🌈✨ Construyamos juntos, una #Tuluá #ParaSerFelices 💙 #Pride #LGTBIQ+</a:t>
            </a:r>
            <a:endParaRPr sz="1100">
              <a:solidFill>
                <a:srgbClr val="000000"/>
              </a:solidFill>
              <a:highlight>
                <a:srgbClr val="FFFFFF"/>
              </a:highlight>
              <a:latin typeface="Arial"/>
              <a:ea typeface="Arial"/>
              <a:cs typeface="Arial"/>
              <a:sym typeface="Arial"/>
            </a:endParaRPr>
          </a:p>
          <a:p>
            <a:pPr indent="0" lvl="0" marL="0" rtl="0" algn="l">
              <a:lnSpc>
                <a:spcPct val="115000"/>
              </a:lnSpc>
              <a:spcBef>
                <a:spcPts val="0"/>
              </a:spcBef>
              <a:spcAft>
                <a:spcPts val="0"/>
              </a:spcAft>
              <a:buSzPts val="1300"/>
              <a:buNone/>
            </a:pPr>
            <a:r>
              <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SzPts val="1300"/>
              <a:buNone/>
            </a:pPr>
            <a:r>
              <a:rPr b="1" i="1" lang="es" sz="1100">
                <a:solidFill>
                  <a:schemeClr val="lt1"/>
                </a:solidFill>
                <a:highlight>
                  <a:srgbClr val="FF0000"/>
                </a:highlight>
                <a:latin typeface="Arial"/>
                <a:ea typeface="Arial"/>
                <a:cs typeface="Arial"/>
                <a:sym typeface="Arial"/>
              </a:rPr>
              <a:t>Identificador de la segunda publicación con mayor alcance:</a:t>
            </a:r>
            <a:r>
              <a:rPr lang="es" sz="1100">
                <a:solidFill>
                  <a:srgbClr val="000000"/>
                </a:solidFill>
                <a:latin typeface="Arial"/>
                <a:ea typeface="Arial"/>
                <a:cs typeface="Arial"/>
                <a:sym typeface="Arial"/>
              </a:rPr>
              <a:t> 892576026243064</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SzPts val="1300"/>
              <a:buNone/>
            </a:pPr>
            <a:r>
              <a:rPr lang="es" sz="1100">
                <a:solidFill>
                  <a:srgbClr val="000000"/>
                </a:solidFill>
                <a:latin typeface="Arial"/>
                <a:ea typeface="Arial"/>
                <a:cs typeface="Arial"/>
                <a:sym typeface="Arial"/>
              </a:rPr>
              <a:t>Descripción de la segunda publicación con mayor alcance: ¡</a:t>
            </a:r>
            <a:r>
              <a:rPr b="1" lang="es" sz="1100">
                <a:solidFill>
                  <a:srgbClr val="000000"/>
                </a:solidFill>
                <a:latin typeface="Arial"/>
                <a:ea typeface="Arial"/>
                <a:cs typeface="Arial"/>
                <a:sym typeface="Arial"/>
              </a:rPr>
              <a:t>El inicio de un proyecto que transformará Tuluá!✅💪🏼</a:t>
            </a:r>
            <a:endParaRPr b="1" sz="1100">
              <a:solidFill>
                <a:srgbClr val="000000"/>
              </a:solidFill>
              <a:latin typeface="Arial"/>
              <a:ea typeface="Arial"/>
              <a:cs typeface="Arial"/>
              <a:sym typeface="Arial"/>
            </a:endParaRPr>
          </a:p>
          <a:p>
            <a:pPr indent="0" lvl="0" marL="0" rtl="0" algn="l">
              <a:lnSpc>
                <a:spcPct val="115000"/>
              </a:lnSpc>
              <a:spcBef>
                <a:spcPts val="0"/>
              </a:spcBef>
              <a:spcAft>
                <a:spcPts val="0"/>
              </a:spcAft>
              <a:buSzPts val="1300"/>
              <a:buNone/>
            </a:pPr>
            <a:r>
              <a:t/>
            </a:r>
            <a:endParaRPr b="1" sz="1100">
              <a:solidFill>
                <a:srgbClr val="000000"/>
              </a:solidFill>
              <a:latin typeface="Arial"/>
              <a:ea typeface="Arial"/>
              <a:cs typeface="Arial"/>
              <a:sym typeface="Arial"/>
            </a:endParaRPr>
          </a:p>
          <a:p>
            <a:pPr indent="0" lvl="0" marL="0" rtl="0" algn="l">
              <a:lnSpc>
                <a:spcPct val="115000"/>
              </a:lnSpc>
              <a:spcBef>
                <a:spcPts val="0"/>
              </a:spcBef>
              <a:spcAft>
                <a:spcPts val="0"/>
              </a:spcAft>
              <a:buSzPts val="1300"/>
              <a:buNone/>
            </a:pPr>
            <a:r>
              <a:rPr b="1" lang="es" sz="1100">
                <a:solidFill>
                  <a:srgbClr val="000000"/>
                </a:solidFill>
                <a:latin typeface="Arial"/>
                <a:ea typeface="Arial"/>
                <a:cs typeface="Arial"/>
                <a:sym typeface="Arial"/>
              </a:rPr>
              <a:t>Con la visita del Ministro de las TIC, Mauricio Lizcano y el acompañamiento de la Gobernadora del Valle, Dilian Francisca Toro, se anunció hoy, la creación del Centro PotencIA, un innovador espacio que espera beneficiar al menos 20.000 estudiantes tulueños y que logrará posicionar a Tuluá como epicentro de tecnología educativa en la región. </a:t>
            </a:r>
            <a:endParaRPr b="1" sz="1100">
              <a:solidFill>
                <a:srgbClr val="000000"/>
              </a:solidFill>
              <a:latin typeface="Arial"/>
              <a:ea typeface="Arial"/>
              <a:cs typeface="Arial"/>
              <a:sym typeface="Arial"/>
            </a:endParaRPr>
          </a:p>
          <a:p>
            <a:pPr indent="0" lvl="0" marL="0" rtl="0" algn="l">
              <a:lnSpc>
                <a:spcPct val="115000"/>
              </a:lnSpc>
              <a:spcBef>
                <a:spcPts val="0"/>
              </a:spcBef>
              <a:spcAft>
                <a:spcPts val="0"/>
              </a:spcAft>
              <a:buSzPts val="1300"/>
              <a:buNone/>
            </a:pPr>
            <a:r>
              <a:t/>
            </a:r>
            <a:endParaRPr b="1" sz="1100">
              <a:solidFill>
                <a:srgbClr val="000000"/>
              </a:solidFill>
              <a:latin typeface="Arial"/>
              <a:ea typeface="Arial"/>
              <a:cs typeface="Arial"/>
              <a:sym typeface="Arial"/>
            </a:endParaRPr>
          </a:p>
          <a:p>
            <a:pPr indent="0" lvl="0" marL="0" rtl="0" algn="l">
              <a:lnSpc>
                <a:spcPct val="115000"/>
              </a:lnSpc>
              <a:spcBef>
                <a:spcPts val="0"/>
              </a:spcBef>
              <a:spcAft>
                <a:spcPts val="0"/>
              </a:spcAft>
              <a:buSzPts val="1300"/>
              <a:buNone/>
            </a:pPr>
            <a:r>
              <a:rPr b="1" lang="es" sz="1100">
                <a:solidFill>
                  <a:srgbClr val="000000"/>
                </a:solidFill>
                <a:latin typeface="Arial"/>
                <a:ea typeface="Arial"/>
                <a:cs typeface="Arial"/>
                <a:sym typeface="Arial"/>
              </a:rPr>
              <a:t>En Tuluá, continuamos trabajando #ParaSerFelices 💙</a:t>
            </a:r>
            <a:endParaRPr sz="110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g21b9fb9d6db_0_239"/>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219" name="Google Shape;219;g21b9fb9d6db_0_239"/>
          <p:cNvSpPr txBox="1"/>
          <p:nvPr>
            <p:ph type="title"/>
          </p:nvPr>
        </p:nvSpPr>
        <p:spPr>
          <a:xfrm>
            <a:off x="365083" y="2443491"/>
            <a:ext cx="3177000" cy="812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s" sz="1300"/>
              <a:t>Publicaciones con mayor cantidad de comentarios</a:t>
            </a:r>
            <a:br>
              <a:rPr lang="es" sz="1300"/>
            </a:br>
            <a:r>
              <a:rPr lang="es" sz="1300"/>
              <a:t>Plataforma: facebook</a:t>
            </a:r>
            <a:br>
              <a:rPr lang="es" sz="1300"/>
            </a:br>
            <a:r>
              <a:rPr lang="es" sz="1300"/>
              <a:t>Métricas: —-</a:t>
            </a:r>
            <a:endParaRPr sz="1300"/>
          </a:p>
        </p:txBody>
      </p:sp>
      <p:sp>
        <p:nvSpPr>
          <p:cNvPr id="220" name="Google Shape;220;g21b9fb9d6db_0_239"/>
          <p:cNvSpPr txBox="1"/>
          <p:nvPr>
            <p:ph idx="1" type="body"/>
          </p:nvPr>
        </p:nvSpPr>
        <p:spPr>
          <a:xfrm>
            <a:off x="3648350" y="1239250"/>
            <a:ext cx="5061300" cy="18201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2400"/>
              </a:spcBef>
              <a:spcAft>
                <a:spcPts val="0"/>
              </a:spcAft>
              <a:buSzPts val="1300"/>
              <a:buNone/>
            </a:pPr>
            <a:r>
              <a:rPr b="1" i="1" lang="es" sz="1100">
                <a:solidFill>
                  <a:schemeClr val="lt1"/>
                </a:solidFill>
                <a:highlight>
                  <a:srgbClr val="FF0000"/>
                </a:highlight>
                <a:latin typeface="Arial"/>
                <a:ea typeface="Arial"/>
                <a:cs typeface="Arial"/>
                <a:sym typeface="Arial"/>
              </a:rPr>
              <a:t>Identificador de la segunda publicación con mayores reacciones: 362135513227607</a:t>
            </a:r>
            <a:endParaRPr b="1" i="1" sz="1100">
              <a:solidFill>
                <a:schemeClr val="lt1"/>
              </a:solidFill>
              <a:highlight>
                <a:srgbClr val="FF0000"/>
              </a:highlight>
              <a:latin typeface="Arial"/>
              <a:ea typeface="Arial"/>
              <a:cs typeface="Arial"/>
              <a:sym typeface="Arial"/>
            </a:endParaRPr>
          </a:p>
          <a:p>
            <a:pPr indent="0" lvl="0" marL="0" rtl="0" algn="l">
              <a:lnSpc>
                <a:spcPct val="115000"/>
              </a:lnSpc>
              <a:spcBef>
                <a:spcPts val="2400"/>
              </a:spcBef>
              <a:spcAft>
                <a:spcPts val="0"/>
              </a:spcAft>
              <a:buSzPts val="1300"/>
              <a:buNone/>
            </a:pPr>
            <a:r>
              <a:rPr lang="es" sz="1100">
                <a:solidFill>
                  <a:schemeClr val="dk2"/>
                </a:solidFill>
                <a:latin typeface="Arial"/>
                <a:ea typeface="Arial"/>
                <a:cs typeface="Arial"/>
                <a:sym typeface="Arial"/>
              </a:rPr>
              <a:t>Descripción de la segunda publicación con mayores reacciones: </a:t>
            </a:r>
            <a:r>
              <a:rPr b="1" lang="es" sz="1100">
                <a:solidFill>
                  <a:schemeClr val="dk2"/>
                </a:solidFill>
                <a:latin typeface="Arial"/>
                <a:ea typeface="Arial"/>
                <a:cs typeface="Arial"/>
                <a:sym typeface="Arial"/>
              </a:rPr>
              <a:t>Bienvenidos a este espacio donde vamos a interactuar con el señor alcalde Gustavo Vélez y nuestra comunidad. #ParaSerFelices</a:t>
            </a:r>
            <a:endParaRPr b="1" sz="1100">
              <a:solidFill>
                <a:schemeClr val="dk2"/>
              </a:solidFill>
              <a:latin typeface="Arial"/>
              <a:ea typeface="Arial"/>
              <a:cs typeface="Arial"/>
              <a:sym typeface="Arial"/>
            </a:endParaRPr>
          </a:p>
          <a:p>
            <a:pPr indent="0" lvl="0" marL="0" rtl="0" algn="l">
              <a:lnSpc>
                <a:spcPct val="115000"/>
              </a:lnSpc>
              <a:spcBef>
                <a:spcPts val="2400"/>
              </a:spcBef>
              <a:spcAft>
                <a:spcPts val="1200"/>
              </a:spcAft>
              <a:buSzPts val="1300"/>
              <a:buNone/>
            </a:pPr>
            <a:r>
              <a:rPr lang="es" sz="1100">
                <a:solidFill>
                  <a:schemeClr val="dk2"/>
                </a:solidFill>
                <a:latin typeface="Arial"/>
                <a:ea typeface="Arial"/>
                <a:cs typeface="Arial"/>
                <a:sym typeface="Arial"/>
              </a:rPr>
              <a:t>Fecha de la segunda publicación con mayor alcance: </a:t>
            </a:r>
            <a:r>
              <a:rPr b="1" lang="es" sz="1100">
                <a:solidFill>
                  <a:schemeClr val="dk2"/>
                </a:solidFill>
                <a:latin typeface="Arial"/>
                <a:ea typeface="Arial"/>
                <a:cs typeface="Arial"/>
                <a:sym typeface="Arial"/>
              </a:rPr>
              <a:t>2024-06-22</a:t>
            </a:r>
            <a:endParaRPr b="1" sz="1100">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g21b9fb9d6db_0_245"/>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226" name="Google Shape;226;g21b9fb9d6db_0_245"/>
          <p:cNvSpPr txBox="1"/>
          <p:nvPr>
            <p:ph type="title"/>
          </p:nvPr>
        </p:nvSpPr>
        <p:spPr>
          <a:xfrm>
            <a:off x="365083" y="2443491"/>
            <a:ext cx="3177000" cy="812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s" sz="1300"/>
              <a:t>Publicación</a:t>
            </a:r>
            <a:r>
              <a:rPr lang="es" sz="1300"/>
              <a:t> con mayor cantidad de reacciones </a:t>
            </a:r>
            <a:br>
              <a:rPr lang="es" sz="1300"/>
            </a:br>
            <a:r>
              <a:rPr lang="es" sz="1300"/>
              <a:t>Plataforma: facebook</a:t>
            </a:r>
            <a:br>
              <a:rPr lang="es" sz="1300"/>
            </a:br>
            <a:r>
              <a:rPr lang="es" sz="1300"/>
              <a:t>Métricas: —-</a:t>
            </a:r>
            <a:endParaRPr sz="1300"/>
          </a:p>
        </p:txBody>
      </p:sp>
      <p:sp>
        <p:nvSpPr>
          <p:cNvPr id="227" name="Google Shape;227;g21b9fb9d6db_0_245"/>
          <p:cNvSpPr txBox="1"/>
          <p:nvPr>
            <p:ph idx="1" type="body"/>
          </p:nvPr>
        </p:nvSpPr>
        <p:spPr>
          <a:xfrm>
            <a:off x="3648350" y="1239250"/>
            <a:ext cx="5061300" cy="18201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2400"/>
              </a:spcBef>
              <a:spcAft>
                <a:spcPts val="0"/>
              </a:spcAft>
              <a:buSzPts val="1300"/>
              <a:buNone/>
            </a:pPr>
            <a:r>
              <a:rPr i="1" lang="es" sz="1100">
                <a:solidFill>
                  <a:schemeClr val="lt1"/>
                </a:solidFill>
                <a:highlight>
                  <a:srgbClr val="FF0000"/>
                </a:highlight>
                <a:latin typeface="Arial"/>
                <a:ea typeface="Arial"/>
                <a:cs typeface="Arial"/>
                <a:sym typeface="Arial"/>
              </a:rPr>
              <a:t>Identificador de la publicación con mayor alcance:</a:t>
            </a:r>
            <a:r>
              <a:rPr lang="es" sz="1100">
                <a:solidFill>
                  <a:schemeClr val="dk2"/>
                </a:solidFill>
                <a:latin typeface="Arial"/>
                <a:ea typeface="Arial"/>
                <a:cs typeface="Arial"/>
                <a:sym typeface="Arial"/>
              </a:rPr>
              <a:t> 898419278992072</a:t>
            </a:r>
            <a:endParaRPr sz="1100">
              <a:solidFill>
                <a:schemeClr val="dk2"/>
              </a:solidFill>
              <a:latin typeface="Arial"/>
              <a:ea typeface="Arial"/>
              <a:cs typeface="Arial"/>
              <a:sym typeface="Arial"/>
            </a:endParaRPr>
          </a:p>
          <a:p>
            <a:pPr indent="0" lvl="0" marL="0" rtl="0" algn="l">
              <a:lnSpc>
                <a:spcPct val="115000"/>
              </a:lnSpc>
              <a:spcBef>
                <a:spcPts val="2400"/>
              </a:spcBef>
              <a:spcAft>
                <a:spcPts val="0"/>
              </a:spcAft>
              <a:buSzPts val="1300"/>
              <a:buNone/>
            </a:pPr>
            <a:r>
              <a:rPr i="1" lang="es" sz="1100">
                <a:solidFill>
                  <a:schemeClr val="lt1"/>
                </a:solidFill>
                <a:highlight>
                  <a:srgbClr val="FF0000"/>
                </a:highlight>
                <a:latin typeface="Arial"/>
                <a:ea typeface="Arial"/>
                <a:cs typeface="Arial"/>
                <a:sym typeface="Arial"/>
              </a:rPr>
              <a:t>Descripción de la publicación con mayores reacciones (ID: 898419278992072 ):</a:t>
            </a:r>
            <a:r>
              <a:rPr lang="es" sz="1100">
                <a:solidFill>
                  <a:schemeClr val="dk2"/>
                </a:solidFill>
                <a:latin typeface="Arial"/>
                <a:ea typeface="Arial"/>
                <a:cs typeface="Arial"/>
                <a:sym typeface="Arial"/>
              </a:rPr>
              <a:t> </a:t>
            </a:r>
            <a:r>
              <a:rPr b="1" lang="es" sz="1100">
                <a:solidFill>
                  <a:schemeClr val="dk2"/>
                </a:solidFill>
                <a:latin typeface="Arial"/>
                <a:ea typeface="Arial"/>
                <a:cs typeface="Arial"/>
                <a:sym typeface="Arial"/>
              </a:rPr>
              <a:t>¡Feliz día del Orgullo!🌈💪🏼</a:t>
            </a:r>
            <a:endParaRPr b="1" sz="1100">
              <a:solidFill>
                <a:schemeClr val="dk2"/>
              </a:solidFill>
              <a:latin typeface="Arial"/>
              <a:ea typeface="Arial"/>
              <a:cs typeface="Arial"/>
              <a:sym typeface="Arial"/>
            </a:endParaRPr>
          </a:p>
          <a:p>
            <a:pPr indent="0" lvl="0" marL="0" rtl="0" algn="l">
              <a:lnSpc>
                <a:spcPct val="115000"/>
              </a:lnSpc>
              <a:spcBef>
                <a:spcPts val="2400"/>
              </a:spcBef>
              <a:spcAft>
                <a:spcPts val="1200"/>
              </a:spcAft>
              <a:buSzPts val="1300"/>
              <a:buNone/>
            </a:pPr>
            <a:r>
              <a:rPr b="1" lang="es" sz="1100">
                <a:solidFill>
                  <a:schemeClr val="dk2"/>
                </a:solidFill>
                <a:latin typeface="Arial"/>
                <a:ea typeface="Arial"/>
                <a:cs typeface="Arial"/>
                <a:sym typeface="Arial"/>
              </a:rPr>
              <a:t>Hoy y todos los días, celebramos juntos la diversidad y el amor en todas sus formas y colores desde el respeto y el cariño.🏳‍🌈✨ Construyamos juntos, una #Tuluá #ParaSerFelices 💙 #Pride #LGTBIQ+</a:t>
            </a:r>
            <a:endParaRPr b="1" sz="1100">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g21b9fb9d6db_0_251"/>
          <p:cNvPicPr preferRelativeResize="0"/>
          <p:nvPr/>
        </p:nvPicPr>
        <p:blipFill rotWithShape="1">
          <a:blip r:embed="rId3">
            <a:alphaModFix/>
          </a:blip>
          <a:srcRect b="0" l="0" r="0" t="0"/>
          <a:stretch/>
        </p:blipFill>
        <p:spPr>
          <a:xfrm>
            <a:off x="4229" y="0"/>
            <a:ext cx="9135542" cy="5143501"/>
          </a:xfrm>
          <a:prstGeom prst="rect">
            <a:avLst/>
          </a:prstGeom>
          <a:noFill/>
          <a:ln>
            <a:noFill/>
          </a:ln>
        </p:spPr>
      </p:pic>
      <p:sp>
        <p:nvSpPr>
          <p:cNvPr id="233" name="Google Shape;233;g21b9fb9d6db_0_251"/>
          <p:cNvSpPr txBox="1"/>
          <p:nvPr>
            <p:ph type="title"/>
          </p:nvPr>
        </p:nvSpPr>
        <p:spPr>
          <a:xfrm>
            <a:off x="365083" y="2443491"/>
            <a:ext cx="3177000" cy="812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444"/>
              <a:buNone/>
            </a:pPr>
            <a:r>
              <a:rPr lang="es" sz="1300"/>
              <a:t>Publicaciones</a:t>
            </a:r>
            <a:r>
              <a:rPr lang="es" sz="1300"/>
              <a:t> con menor alcance </a:t>
            </a:r>
            <a:br>
              <a:rPr lang="es" sz="1300"/>
            </a:br>
            <a:r>
              <a:rPr lang="es" sz="1300"/>
              <a:t>Plataforma: facebook</a:t>
            </a:r>
            <a:br>
              <a:rPr lang="es" sz="1300"/>
            </a:br>
            <a:r>
              <a:rPr lang="es" sz="1300"/>
              <a:t>Métricas: —-</a:t>
            </a:r>
            <a:endParaRPr sz="1300"/>
          </a:p>
        </p:txBody>
      </p:sp>
      <p:sp>
        <p:nvSpPr>
          <p:cNvPr id="234" name="Google Shape;234;g21b9fb9d6db_0_251"/>
          <p:cNvSpPr txBox="1"/>
          <p:nvPr>
            <p:ph idx="1" type="body"/>
          </p:nvPr>
        </p:nvSpPr>
        <p:spPr>
          <a:xfrm>
            <a:off x="3387300" y="155300"/>
            <a:ext cx="5061300" cy="4533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2400"/>
              </a:spcBef>
              <a:spcAft>
                <a:spcPts val="0"/>
              </a:spcAft>
              <a:buSzPts val="1300"/>
              <a:buNone/>
            </a:pPr>
            <a:r>
              <a:rPr i="1" lang="es" sz="1100">
                <a:solidFill>
                  <a:schemeClr val="lt1"/>
                </a:solidFill>
                <a:highlight>
                  <a:srgbClr val="FF0000"/>
                </a:highlight>
                <a:latin typeface="Arial"/>
                <a:ea typeface="Arial"/>
                <a:cs typeface="Arial"/>
                <a:sym typeface="Arial"/>
              </a:rPr>
              <a:t>Descripciones de las tres publicaciones con menor alcance:</a:t>
            </a:r>
            <a:endParaRPr i="1" sz="1100">
              <a:solidFill>
                <a:schemeClr val="lt1"/>
              </a:solidFill>
              <a:highlight>
                <a:srgbClr val="FF0000"/>
              </a:highlight>
              <a:latin typeface="Arial"/>
              <a:ea typeface="Arial"/>
              <a:cs typeface="Arial"/>
              <a:sym typeface="Arial"/>
            </a:endParaRPr>
          </a:p>
          <a:p>
            <a:pPr indent="0" lvl="0" marL="0" rtl="0" algn="l">
              <a:lnSpc>
                <a:spcPct val="115000"/>
              </a:lnSpc>
              <a:spcBef>
                <a:spcPts val="2400"/>
              </a:spcBef>
              <a:spcAft>
                <a:spcPts val="0"/>
              </a:spcAft>
              <a:buSzPts val="1300"/>
              <a:buNone/>
            </a:pPr>
            <a:r>
              <a:rPr b="1" lang="es" sz="1100">
                <a:solidFill>
                  <a:schemeClr val="dk2"/>
                </a:solidFill>
                <a:latin typeface="Arial"/>
                <a:ea typeface="Arial"/>
                <a:cs typeface="Arial"/>
                <a:sym typeface="Arial"/>
              </a:rPr>
              <a:t>-Gracias por ser el guía de nuestras vidas, por ser nuestro pilar, por tu apoyo, cariño y sabiduría. Por eso, hoy y todos los días, ¡Feliz Día Papá!✨🫶🏼 #ParaSerFelices 💙</a:t>
            </a:r>
            <a:endParaRPr b="1" sz="1100">
              <a:solidFill>
                <a:schemeClr val="dk2"/>
              </a:solidFill>
              <a:latin typeface="Arial"/>
              <a:ea typeface="Arial"/>
              <a:cs typeface="Arial"/>
              <a:sym typeface="Arial"/>
            </a:endParaRPr>
          </a:p>
          <a:p>
            <a:pPr indent="0" lvl="0" marL="0" rtl="0" algn="l">
              <a:lnSpc>
                <a:spcPct val="115000"/>
              </a:lnSpc>
              <a:spcBef>
                <a:spcPts val="2400"/>
              </a:spcBef>
              <a:spcAft>
                <a:spcPts val="0"/>
              </a:spcAft>
              <a:buSzPts val="1300"/>
              <a:buNone/>
            </a:pPr>
            <a:r>
              <a:rPr b="1" lang="es" sz="1100">
                <a:solidFill>
                  <a:schemeClr val="dk2"/>
                </a:solidFill>
                <a:latin typeface="Arial"/>
                <a:ea typeface="Arial"/>
                <a:cs typeface="Arial"/>
                <a:sym typeface="Arial"/>
              </a:rPr>
              <a:t>Etiqueta a tu papá y deséale un feliz día. ⬇️</a:t>
            </a:r>
            <a:endParaRPr b="1" sz="1100">
              <a:solidFill>
                <a:schemeClr val="dk2"/>
              </a:solidFill>
              <a:latin typeface="Arial"/>
              <a:ea typeface="Arial"/>
              <a:cs typeface="Arial"/>
              <a:sym typeface="Arial"/>
            </a:endParaRPr>
          </a:p>
          <a:p>
            <a:pPr indent="0" lvl="0" marL="0" rtl="0" algn="l">
              <a:lnSpc>
                <a:spcPct val="115000"/>
              </a:lnSpc>
              <a:spcBef>
                <a:spcPts val="2400"/>
              </a:spcBef>
              <a:spcAft>
                <a:spcPts val="0"/>
              </a:spcAft>
              <a:buSzPts val="1300"/>
              <a:buNone/>
            </a:pPr>
            <a:r>
              <a:rPr b="1" lang="es" sz="1100">
                <a:solidFill>
                  <a:schemeClr val="dk2"/>
                </a:solidFill>
                <a:latin typeface="Arial"/>
                <a:ea typeface="Arial"/>
                <a:cs typeface="Arial"/>
                <a:sym typeface="Arial"/>
              </a:rPr>
              <a:t>-Desde el Departamento Administrativo de Arte y Cultura se llevó a cabo la presentación de la obra de teatro de los reclusos del Centro Penitenciario de Tuluá en el cual se vivió un momento lleno de emociones y sentimientos de parte de los protagonistas y sus familias. 💙✅💪🏼 #ParaSerFelices</a:t>
            </a:r>
            <a:endParaRPr b="1" sz="1100">
              <a:solidFill>
                <a:schemeClr val="dk2"/>
              </a:solidFill>
              <a:latin typeface="Arial"/>
              <a:ea typeface="Arial"/>
              <a:cs typeface="Arial"/>
              <a:sym typeface="Arial"/>
            </a:endParaRPr>
          </a:p>
          <a:p>
            <a:pPr indent="0" lvl="0" marL="0" rtl="0" algn="l">
              <a:lnSpc>
                <a:spcPct val="115000"/>
              </a:lnSpc>
              <a:spcBef>
                <a:spcPts val="2400"/>
              </a:spcBef>
              <a:spcAft>
                <a:spcPts val="1200"/>
              </a:spcAft>
              <a:buSzPts val="1300"/>
              <a:buNone/>
            </a:pPr>
            <a:r>
              <a:rPr b="1" lang="es" sz="1100">
                <a:solidFill>
                  <a:schemeClr val="dk2"/>
                </a:solidFill>
                <a:latin typeface="Arial"/>
                <a:ea typeface="Arial"/>
                <a:cs typeface="Arial"/>
                <a:sym typeface="Arial"/>
              </a:rPr>
              <a:t>-Desde el Departamento Administrativo de Movilidad y Seguridad Vial, continuamos con un trabajo constante de pedagogía y educación vial a toda nuestra comunidad con estas jornadas, con el fin de dar a conocer la importancia de utilizar casco para la movilidad segura dentro de nuestro municipio. #ParaSerFelices 💙✅</a:t>
            </a:r>
            <a:endParaRPr b="1" sz="1100">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